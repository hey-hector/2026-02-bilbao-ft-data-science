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7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Pulse para desplazar la diapositiva</a:t>
            </a:r>
            <a:endParaRPr lang="es-E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PlaceHolder 4"/>
          <p:cNvSpPr>
            <a:spLocks noGrp="1"/>
          </p:cNvSpPr>
          <p:nvPr>
            <p:ph type="dt" idx="4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PlaceHolder 5"/>
          <p:cNvSpPr>
            <a:spLocks noGrp="1"/>
          </p:cNvSpPr>
          <p:nvPr>
            <p:ph type="ftr" idx="5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PlaceHolder 6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D55ABE0-6602-4648-BA85-AC2AA811E71C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Siempre nos hemos preguntado cómo podemos sacar mejores notas; pues aquí veremos qué hábitos de estudio afectan a ello y cuáles no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362C555-6B6F-4EF5-84F0-8DE5BECDF884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23" name=""/>
          <p:cNvSpPr/>
          <p:nvPr/>
        </p:nvSpPr>
        <p:spPr>
          <a:xfrm>
            <a:off x="551880" y="4544280"/>
            <a:ext cx="6046200" cy="20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alumnos tienen diferentes backgrounds, ya que han crecido en diferentes entornos. Esto se ha medido mediante: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La educación de los padres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El tipo de escuela al que el alumno ha acudido: pública o privada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Los ingresos anuales familiares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293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(mín=55)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Vemos la distribución y la frecuencia de las notas del examen dividido en rangos por columnas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Estas columnas están divididas por cuántos estudiantes caen dentro de este rango. Ejemplo: 1500 estudiantes han sacado entre 60 y 65.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Columna más alta nos indica dónde se concentran la mayoría de los datos; es decir, la mayoría de los estudiantes han sacado entre 65 y 70 → sacar media: 67,24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8347BBC-5108-4FA2-93F0-35591ABE5ECE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840" cy="400752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437400" y="5078520"/>
            <a:ext cx="6046200" cy="62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Preguntar al público: ¿qué créeis que se tiene en cuenta a la hora de organizar tus estudios?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426960" y="4292640"/>
            <a:ext cx="5996160" cy="166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línea roja es la línea de regresión lineal (o línea de tendencia)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Muestra la dirección de la relación entre las dos variables: como la línea sube, hay una relación positiva: contra más horas se estudia, mejor nota se sacará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Índice de correlación (IC): 0,45; contra más cerca del 1, más impacto tendrá esa variable en la nota final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467280" y="4428720"/>
            <a:ext cx="6045840" cy="94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Contra más se atienda a clase, mejor nota se sacará.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Índice de correlación (IC): 0,58; por lo que esta variable afecta más que las “Hours_Studied”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507240" y="4412880"/>
            <a:ext cx="6045840" cy="100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Hay una relación positiva pero la tendencia no es tan fuerte como en los 2 casos anteriores; es decir,contra más tutorías se hagan, no se tiene por qué sacar mejor nota aunque hay alguna probabilidad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Esto se ve porque la pendiente de la línea roja no es tan empinada como las anteriores: contra menos inclinación, la relación entre variables es menos fuerte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IC: 0,16 -&gt; contra más cerca del 0, menos impacto tendrá esa variable en la nota final, siendo 0 ninguna relación entre variables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443160" y="4268160"/>
            <a:ext cx="6045840" cy="1240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IC: -0,017 -&gt; contra más cerca del 0, menos impacto tendrá esa variable en la nota final, siendo 0 ninguna relación entre variables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Conclusión: no hay ninguna relación entre estas variables.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El valor negativo no afecta a la relación si está cerca del 0, pero en caso de que el IC esté más cerca del -1, las variables tendrían un valor negativo; es decir, en este ejemplo si el IC fuera -0,917 significaría que contra menos se duerma de media por noche, mejor nota se saca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467280" y="4404600"/>
            <a:ext cx="604584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Ejemplo mapa de calor que relaciona todas las variables Numéricas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426960" y="4292280"/>
            <a:ext cx="6045840" cy="140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variables Categóricas, se dibuja un gráfico de promedios que representa la media de los valores de cada variable vs Exam_Score y se ve que cada grupo da muy parecido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Estas variables no influyen significativamente en el resultado del examen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840" cy="400752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1063080" y="5078520"/>
            <a:ext cx="4986000" cy="69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¿Opináis que la motivación de un estudiante afecta a la nota final?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840" cy="400752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739440" y="5095440"/>
            <a:ext cx="5595120" cy="87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Muestra para cada valor de “Motivation_Level” la forma de los datos, es decir, dónde se concentra la mayoría de los datos: la densidad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3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16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324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2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3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5A7D9DD-5F08-42D4-98CF-31254332C711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36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49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589120" y="2058840"/>
            <a:ext cx="8913240" cy="146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2589120" y="3530160"/>
            <a:ext cx="8913240" cy="85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4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5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reeform 11"/>
          <p:cNvSpPr/>
          <p:nvPr/>
        </p:nvSpPr>
        <p:spPr>
          <a:xfrm flipV="1">
            <a:off x="-2160" y="3175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6"/>
          </p:nvPr>
        </p:nvSpPr>
        <p:spPr>
          <a:xfrm>
            <a:off x="531720" y="324396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C89F6A3-1BD9-430A-9DF6-919A0926B468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69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82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1172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7190640" y="2126160"/>
            <a:ext cx="431172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7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9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57981B-8AFA-4284-8336-E30FF27B181F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103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5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116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2939400" y="1972800"/>
            <a:ext cx="3990600" cy="57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2589120" y="2548800"/>
            <a:ext cx="4340880" cy="335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7506720" y="1969560"/>
            <a:ext cx="3996720" cy="57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body"/>
          </p:nvPr>
        </p:nvSpPr>
        <p:spPr>
          <a:xfrm>
            <a:off x="7166880" y="2545560"/>
            <a:ext cx="4336560" cy="335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 type="dt" idx="10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7"/>
          <p:cNvSpPr>
            <a:spLocks noGrp="1"/>
          </p:cNvSpPr>
          <p:nvPr>
            <p:ph type="ftr" idx="11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8"/>
          <p:cNvSpPr>
            <a:spLocks noGrp="1"/>
          </p:cNvSpPr>
          <p:nvPr>
            <p:ph type="sldNum" idx="12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DE575FE-DB7F-45AE-BF5A-49EEAA6A20E7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139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1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152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4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dt" idx="13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ftr" idx="14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sldNum" idx="15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C4CB354-0E12-47DE-B449-3EC8F0FCA485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171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3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184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6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dt" idx="16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ftr" idx="17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8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9D86657-5A8C-45CF-A4D7-79F0ABDFDE2E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202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4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215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7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2589120" y="446040"/>
            <a:ext cx="3503160" cy="97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323040" y="446040"/>
            <a:ext cx="5179320" cy="541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2589120" y="1598760"/>
            <a:ext cx="3503160" cy="426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dt" idx="19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ftr" idx="20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 type="sldNum" idx="21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D63EBCA-4AA5-46AF-BEFD-158B6E03CFB9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236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8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249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1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2589120" y="4800600"/>
            <a:ext cx="8913240" cy="56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2589120" y="635040"/>
            <a:ext cx="8913240" cy="385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Haga clic en el icono para agregar una imagen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2589120" y="5367240"/>
            <a:ext cx="8913240" cy="49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dt" idx="22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ftr" idx="23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reeform 11"/>
          <p:cNvSpPr/>
          <p:nvPr/>
        </p:nvSpPr>
        <p:spPr>
          <a:xfrm flipV="1">
            <a:off x="-2160" y="490968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6"/>
          <p:cNvSpPr>
            <a:spLocks noGrp="1"/>
          </p:cNvSpPr>
          <p:nvPr>
            <p:ph type="sldNum" idx="24"/>
          </p:nvPr>
        </p:nvSpPr>
        <p:spPr>
          <a:xfrm>
            <a:off x="531720" y="498312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D164ABC-49B3-44F6-83D6-33BB3121FE13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270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2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283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5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3240" cy="22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dt" idx="25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ftr" idx="26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Freeform 6"/>
          <p:cNvSpPr/>
          <p:nvPr/>
        </p:nvSpPr>
        <p:spPr>
          <a:xfrm>
            <a:off x="0" y="4323960"/>
            <a:ext cx="1742400" cy="776520"/>
          </a:xfrm>
          <a:custGeom>
            <a:avLst/>
            <a:gdLst>
              <a:gd name="textAreaLeft" fmla="*/ 0 w 1742400"/>
              <a:gd name="textAreaRight" fmla="*/ 1744560 w 1742400"/>
              <a:gd name="textAreaTop" fmla="*/ 0 h 776520"/>
              <a:gd name="textAreaBottom" fmla="*/ 778680 h 776520"/>
            </a:gdLst>
            <a:ahLst/>
            <a:cxn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sldNum" idx="27"/>
          </p:nvPr>
        </p:nvSpPr>
        <p:spPr>
          <a:xfrm>
            <a:off x="531720" y="452952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B5639B0-3E3B-4B5C-B985-A90617D7BB19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Pulse para editar el formato de texto del esquema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 del esquema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 del esquema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 del esquema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 del esquema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Sexto nivel del esquema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Séptimo nivel del esquema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descrip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303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5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316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8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2589120" y="609480"/>
            <a:ext cx="8913240" cy="311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2589120" y="4354200"/>
            <a:ext cx="8913240" cy="155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dt" idx="28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 type="ftr" idx="29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reeform 11"/>
          <p:cNvSpPr/>
          <p:nvPr/>
        </p:nvSpPr>
        <p:spPr>
          <a:xfrm flipV="1">
            <a:off x="-2160" y="3175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 type="sldNum" idx="30"/>
          </p:nvPr>
        </p:nvSpPr>
        <p:spPr>
          <a:xfrm>
            <a:off x="531720" y="324396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B63518-041F-4F0B-9489-4E391E20B07A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 con descrip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336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8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349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1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2850120" y="609480"/>
            <a:ext cx="8391600" cy="289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3274920" y="3505320"/>
            <a:ext cx="7534440" cy="3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body"/>
          </p:nvPr>
        </p:nvSpPr>
        <p:spPr>
          <a:xfrm>
            <a:off x="2589120" y="4354200"/>
            <a:ext cx="8913240" cy="155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 type="dt" idx="31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PlaceHolder 5"/>
          <p:cNvSpPr>
            <a:spLocks noGrp="1"/>
          </p:cNvSpPr>
          <p:nvPr>
            <p:ph type="ftr" idx="32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reeform 11"/>
          <p:cNvSpPr/>
          <p:nvPr/>
        </p:nvSpPr>
        <p:spPr>
          <a:xfrm flipV="1">
            <a:off x="-2160" y="3175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6"/>
          <p:cNvSpPr>
            <a:spLocks noGrp="1"/>
          </p:cNvSpPr>
          <p:nvPr>
            <p:ph type="sldNum" idx="33"/>
          </p:nvPr>
        </p:nvSpPr>
        <p:spPr>
          <a:xfrm>
            <a:off x="531720" y="324396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83FD712-9BC3-43E9-929E-52EB89D1FF3F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TextBox 13"/>
          <p:cNvSpPr/>
          <p:nvPr/>
        </p:nvSpPr>
        <p:spPr>
          <a:xfrm>
            <a:off x="2467800" y="6480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“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14"/>
          <p:cNvSpPr/>
          <p:nvPr/>
        </p:nvSpPr>
        <p:spPr>
          <a:xfrm>
            <a:off x="11115000" y="29052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”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rjeta de nombre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372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3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4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385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7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2589120" y="2438280"/>
            <a:ext cx="8913240" cy="272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2589120" y="5181480"/>
            <a:ext cx="8913240" cy="72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dt" idx="34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PlaceHolder 4"/>
          <p:cNvSpPr>
            <a:spLocks noGrp="1"/>
          </p:cNvSpPr>
          <p:nvPr>
            <p:ph type="ftr" idx="35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reeform 11"/>
          <p:cNvSpPr/>
          <p:nvPr/>
        </p:nvSpPr>
        <p:spPr>
          <a:xfrm flipV="1">
            <a:off x="-2160" y="490968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 type="sldNum" idx="36"/>
          </p:nvPr>
        </p:nvSpPr>
        <p:spPr>
          <a:xfrm>
            <a:off x="531720" y="498312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F033300-C8F7-49FE-BC0B-DD8408C90931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r la tarjeta de nombre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405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7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418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0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2850120" y="609480"/>
            <a:ext cx="8391600" cy="289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2589120" y="4343400"/>
            <a:ext cx="8913240" cy="83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body"/>
          </p:nvPr>
        </p:nvSpPr>
        <p:spPr>
          <a:xfrm>
            <a:off x="2589120" y="5181480"/>
            <a:ext cx="8913240" cy="72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34" name="PlaceHolder 4"/>
          <p:cNvSpPr>
            <a:spLocks noGrp="1"/>
          </p:cNvSpPr>
          <p:nvPr>
            <p:ph type="dt" idx="37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PlaceHolder 5"/>
          <p:cNvSpPr>
            <a:spLocks noGrp="1"/>
          </p:cNvSpPr>
          <p:nvPr>
            <p:ph type="ftr" idx="38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reeform 11"/>
          <p:cNvSpPr/>
          <p:nvPr/>
        </p:nvSpPr>
        <p:spPr>
          <a:xfrm flipV="1">
            <a:off x="-2160" y="490968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6"/>
          <p:cNvSpPr>
            <a:spLocks noGrp="1"/>
          </p:cNvSpPr>
          <p:nvPr>
            <p:ph type="sldNum" idx="39"/>
          </p:nvPr>
        </p:nvSpPr>
        <p:spPr>
          <a:xfrm>
            <a:off x="531720" y="498312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17EB9E-BDA7-4DBA-B92D-A9B8DE25A0D2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TextBox 16"/>
          <p:cNvSpPr/>
          <p:nvPr/>
        </p:nvSpPr>
        <p:spPr>
          <a:xfrm>
            <a:off x="2467800" y="6480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“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17"/>
          <p:cNvSpPr/>
          <p:nvPr/>
        </p:nvSpPr>
        <p:spPr>
          <a:xfrm>
            <a:off x="11115000" y="29052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”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dadero o fals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441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9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1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3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454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5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6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7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6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2589120" y="627480"/>
            <a:ext cx="8913240" cy="287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2589120" y="4343400"/>
            <a:ext cx="8913240" cy="83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body"/>
          </p:nvPr>
        </p:nvSpPr>
        <p:spPr>
          <a:xfrm>
            <a:off x="2589120" y="5181480"/>
            <a:ext cx="8913240" cy="72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70" name="PlaceHolder 4"/>
          <p:cNvSpPr>
            <a:spLocks noGrp="1"/>
          </p:cNvSpPr>
          <p:nvPr>
            <p:ph type="dt" idx="40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PlaceHolder 5"/>
          <p:cNvSpPr>
            <a:spLocks noGrp="1"/>
          </p:cNvSpPr>
          <p:nvPr>
            <p:ph type="ftr" idx="41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reeform 11"/>
          <p:cNvSpPr/>
          <p:nvPr/>
        </p:nvSpPr>
        <p:spPr>
          <a:xfrm flipV="1">
            <a:off x="-2160" y="490968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6"/>
          <p:cNvSpPr>
            <a:spLocks noGrp="1"/>
          </p:cNvSpPr>
          <p:nvPr>
            <p:ph type="sldNum" idx="42"/>
          </p:nvPr>
        </p:nvSpPr>
        <p:spPr>
          <a:xfrm>
            <a:off x="531720" y="498312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71F2653-4035-4A6C-B8F8-BEE98406D8E9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475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3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6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7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488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3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4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0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3240" cy="388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dt" idx="43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 type="ftr" idx="44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5"/>
          <p:cNvSpPr>
            <a:spLocks noGrp="1"/>
          </p:cNvSpPr>
          <p:nvPr>
            <p:ph type="sldNum" idx="45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5109BF0-0802-4DF5-823A-D8224A5305A9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508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4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9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0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521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2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3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3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9294840" y="627480"/>
            <a:ext cx="2205360" cy="528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2589120" y="627480"/>
            <a:ext cx="6474960" cy="528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dt" idx="46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 type="ftr" idx="47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5"/>
          <p:cNvSpPr>
            <a:spLocks noGrp="1"/>
          </p:cNvSpPr>
          <p:nvPr>
            <p:ph type="sldNum" idx="48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EFCDE4-A6C2-4EC4-B07C-FB0C473262F6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www.kaggle.com/datasets/grandmaster07/student-exam-performance-dataset-analysi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3240" cy="22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Proyecto EDA – Notas de exámenes</a:t>
            </a:r>
            <a:endParaRPr lang="es-E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subTitle"/>
          </p:nvPr>
        </p:nvSpPr>
        <p:spPr>
          <a:xfrm>
            <a:off x="2589120" y="5486400"/>
            <a:ext cx="8913240" cy="41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Hector Yustos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Hipótesis planteadas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3240" cy="109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Principal: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“Los estudiantes con una buena organización de estudio tienen más probabilidades de sacar mejor nota”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0" name="Marcador de contenido 2"/>
          <p:cNvSpPr/>
          <p:nvPr/>
        </p:nvSpPr>
        <p:spPr>
          <a:xfrm>
            <a:off x="2580840" y="4399920"/>
            <a:ext cx="8913240" cy="14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Subhipótesis: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“La importancia de la motivación de un estudiante a la hora de la nota final”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7" dur="800"/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10" dur="800"/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15" dur="2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Consideraciones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2593080" y="1751040"/>
            <a:ext cx="891324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Fuente: </a:t>
            </a:r>
            <a:r>
              <a:rPr lang="es-ES" sz="1800" b="0" u="sng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  <a:hlinkClick r:id="rId1"/>
              </a:rPr>
              <a:t>https://www.kaggle.com/datasets/grandmaster07/student-exam-performance-dataset-analysis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3" name="Marcador de contenido 2"/>
          <p:cNvSpPr/>
          <p:nvPr/>
        </p:nvSpPr>
        <p:spPr>
          <a:xfrm>
            <a:off x="2589120" y="2518560"/>
            <a:ext cx="891324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Manteniendo la privacidad del estudio y los estudiantes, estos son los datos que se pueden revelar: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Marcador de contenido 2"/>
          <p:cNvSpPr/>
          <p:nvPr/>
        </p:nvSpPr>
        <p:spPr>
          <a:xfrm>
            <a:off x="2523960" y="3280320"/>
            <a:ext cx="891324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Prestigiosa universidad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Marcador de contenido 2"/>
          <p:cNvSpPr/>
          <p:nvPr/>
        </p:nvSpPr>
        <p:spPr>
          <a:xfrm>
            <a:off x="2523960" y="3738600"/>
            <a:ext cx="5695560" cy="11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Estudiantes de una asignatura en particular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Marcador de contenido 2"/>
          <p:cNvSpPr/>
          <p:nvPr/>
        </p:nvSpPr>
        <p:spPr>
          <a:xfrm>
            <a:off x="2523960" y="5125320"/>
            <a:ext cx="8913240" cy="13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Evaluación mediante el examen final de la asignatura (variable principal)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Marcador de contenido 2"/>
          <p:cNvSpPr/>
          <p:nvPr/>
        </p:nvSpPr>
        <p:spPr>
          <a:xfrm>
            <a:off x="-2252520" y="4363560"/>
            <a:ext cx="891324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8" name="Marcador de contenido 2"/>
          <p:cNvSpPr/>
          <p:nvPr/>
        </p:nvSpPr>
        <p:spPr>
          <a:xfrm>
            <a:off x="2523960" y="4363560"/>
            <a:ext cx="5306040" cy="92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Seguimiento durante todo el cuatrimestre de sus hábitos de estudio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Marcador de contenido 2"/>
          <p:cNvSpPr/>
          <p:nvPr/>
        </p:nvSpPr>
        <p:spPr>
          <a:xfrm>
            <a:off x="6878880" y="3786120"/>
            <a:ext cx="5246280" cy="6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60" name=""/>
          <p:cNvSpPr/>
          <p:nvPr/>
        </p:nvSpPr>
        <p:spPr>
          <a:xfrm>
            <a:off x="7975440" y="4410720"/>
            <a:ext cx="1514160" cy="413280"/>
          </a:xfrm>
          <a:prstGeom prst="rightArrow">
            <a:avLst>
              <a:gd name="adj1" fmla="val 50000"/>
              <a:gd name="adj2" fmla="val 91363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Marcador de contenido 1"/>
          <p:cNvSpPr/>
          <p:nvPr/>
        </p:nvSpPr>
        <p:spPr>
          <a:xfrm>
            <a:off x="9279360" y="4410720"/>
            <a:ext cx="2055960" cy="6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457200" algn="just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20 </a:t>
            </a: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variables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7984080" y="3668760"/>
            <a:ext cx="1494720" cy="413280"/>
          </a:xfrm>
          <a:prstGeom prst="rightArrow">
            <a:avLst>
              <a:gd name="adj1" fmla="val 50000"/>
              <a:gd name="adj2" fmla="val 90191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Marcador de contenido 4"/>
          <p:cNvSpPr/>
          <p:nvPr/>
        </p:nvSpPr>
        <p:spPr>
          <a:xfrm>
            <a:off x="9304920" y="3668760"/>
            <a:ext cx="219132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457200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6.607 alumnos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4" name=""/>
          <p:cNvGraphicFramePr/>
          <p:nvPr/>
        </p:nvGraphicFramePr>
        <p:xfrm>
          <a:off x="4219560" y="5716800"/>
          <a:ext cx="5075280" cy="69336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Nota Mínima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Nota Máxima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55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6" dur="indefinite" restart="never" nodeType="tmRoot">
          <p:childTnLst>
            <p:seq>
              <p:cTn id="17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2" dur="2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9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fill="hold" nodeType="afterEffect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55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fill="hold" nodeType="afterEffect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" dur="5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5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71" dur="125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Consideraciones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566" name="Imagen 13"/>
          <p:cNvPicPr/>
          <p:nvPr/>
        </p:nvPicPr>
        <p:blipFill>
          <a:blip r:embed="rId1"/>
          <a:stretch/>
        </p:blipFill>
        <p:spPr>
          <a:xfrm>
            <a:off x="3639960" y="1670040"/>
            <a:ext cx="7187400" cy="431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CuadroTexto 14"/>
          <p:cNvSpPr/>
          <p:nvPr/>
        </p:nvSpPr>
        <p:spPr>
          <a:xfrm>
            <a:off x="6270120" y="6190920"/>
            <a:ext cx="2289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Exam Score (0-100)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CuadroTexto 15"/>
          <p:cNvSpPr/>
          <p:nvPr/>
        </p:nvSpPr>
        <p:spPr>
          <a:xfrm rot="16200000">
            <a:off x="2487240" y="3324600"/>
            <a:ext cx="1106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Student quantity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72" dur="indefinite" restart="never" nodeType="tmRoot">
          <p:childTnLst>
            <p:seq>
              <p:cTn id="73" dur="indefinite" nodeType="mainSeq">
                <p:childTnLst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8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6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82"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6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86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77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Hipótesis principal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/>
          </p:nvPr>
        </p:nvSpPr>
        <p:spPr>
          <a:xfrm>
            <a:off x="2601720" y="1898640"/>
            <a:ext cx="891324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“Los estudiantes con una buena organización de estudio tienen más probabilidades de sacar mejor nota”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71" name="CuadroTexto 4"/>
          <p:cNvSpPr/>
          <p:nvPr/>
        </p:nvSpPr>
        <p:spPr>
          <a:xfrm>
            <a:off x="2764800" y="2899080"/>
            <a:ext cx="174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Hours Studied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CuadroTexto 5"/>
          <p:cNvSpPr/>
          <p:nvPr/>
        </p:nvSpPr>
        <p:spPr>
          <a:xfrm>
            <a:off x="3157920" y="3672360"/>
            <a:ext cx="1553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Attendance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CuadroTexto 6"/>
          <p:cNvSpPr/>
          <p:nvPr/>
        </p:nvSpPr>
        <p:spPr>
          <a:xfrm>
            <a:off x="5563800" y="2799000"/>
            <a:ext cx="1553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Parental Involvement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CuadroTexto 7"/>
          <p:cNvSpPr/>
          <p:nvPr/>
        </p:nvSpPr>
        <p:spPr>
          <a:xfrm>
            <a:off x="8382600" y="2846520"/>
            <a:ext cx="1553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Access to Resources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CuadroTexto 8"/>
          <p:cNvSpPr/>
          <p:nvPr/>
        </p:nvSpPr>
        <p:spPr>
          <a:xfrm>
            <a:off x="9484200" y="5388120"/>
            <a:ext cx="179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Extracurricular Activities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CuadroTexto 9"/>
          <p:cNvSpPr/>
          <p:nvPr/>
        </p:nvSpPr>
        <p:spPr>
          <a:xfrm>
            <a:off x="3067560" y="4658760"/>
            <a:ext cx="1553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Sleep Hours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CuadroTexto 10"/>
          <p:cNvSpPr/>
          <p:nvPr/>
        </p:nvSpPr>
        <p:spPr>
          <a:xfrm>
            <a:off x="5295960" y="4074120"/>
            <a:ext cx="1266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Internet Access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CuadroTexto 11"/>
          <p:cNvSpPr/>
          <p:nvPr/>
        </p:nvSpPr>
        <p:spPr>
          <a:xfrm>
            <a:off x="5318280" y="5654520"/>
            <a:ext cx="1553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Tutoring Sessions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CuadroTexto 12"/>
          <p:cNvSpPr/>
          <p:nvPr/>
        </p:nvSpPr>
        <p:spPr>
          <a:xfrm>
            <a:off x="7140960" y="4207320"/>
            <a:ext cx="1356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Teacher Quality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CuadroTexto 13"/>
          <p:cNvSpPr/>
          <p:nvPr/>
        </p:nvSpPr>
        <p:spPr>
          <a:xfrm>
            <a:off x="3466440" y="5416560"/>
            <a:ext cx="1433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Physical Activity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CuadroTexto 14"/>
          <p:cNvSpPr/>
          <p:nvPr/>
        </p:nvSpPr>
        <p:spPr>
          <a:xfrm>
            <a:off x="7426440" y="5288040"/>
            <a:ext cx="1553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Learning Disabilities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CuadroTexto 15"/>
          <p:cNvSpPr/>
          <p:nvPr/>
        </p:nvSpPr>
        <p:spPr>
          <a:xfrm>
            <a:off x="8989200" y="4108680"/>
            <a:ext cx="179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Distance from Home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87" dur="indefinite" restart="never" nodeType="tmRoot">
          <p:childTnLst>
            <p:seq>
              <p:cTn id="88" dur="indefinite" nodeType="mainSeq">
                <p:childTnLst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93" dur="2000"/>
                                        <p:tgtEl>
                                          <p:spTgt spid="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"/>
                            </p:stCondLst>
                            <p:childTnLst>
                              <p:par>
                                <p:cTn id="99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2"/>
                            </p:stCondLst>
                            <p:childTnLst>
                              <p:par>
                                <p:cTn id="102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3"/>
                            </p:stCondLst>
                            <p:childTnLst>
                              <p:par>
                                <p:cTn id="105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04"/>
                            </p:stCondLst>
                            <p:childTnLst>
                              <p:par>
                                <p:cTn id="108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05"/>
                            </p:stCondLst>
                            <p:childTnLst>
                              <p:par>
                                <p:cTn id="111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6"/>
                            </p:stCondLst>
                            <p:childTnLst>
                              <p:par>
                                <p:cTn id="114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07"/>
                            </p:stCondLst>
                            <p:childTnLst>
                              <p:par>
                                <p:cTn id="117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408"/>
                            </p:stCondLst>
                            <p:childTnLst>
                              <p:par>
                                <p:cTn id="120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609"/>
                            </p:stCondLst>
                            <p:childTnLst>
                              <p:par>
                                <p:cTn id="123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810"/>
                            </p:stCondLst>
                            <p:childTnLst>
                              <p:par>
                                <p:cTn id="126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11"/>
                            </p:stCondLst>
                            <p:childTnLst>
                              <p:par>
                                <p:cTn id="129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Imagen 11"/>
          <p:cNvPicPr/>
          <p:nvPr/>
        </p:nvPicPr>
        <p:blipFill>
          <a:blip r:embed="rId1"/>
          <a:stretch/>
        </p:blipFill>
        <p:spPr>
          <a:xfrm>
            <a:off x="2348280" y="643320"/>
            <a:ext cx="8372160" cy="564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"/>
          <p:cNvSpPr/>
          <p:nvPr/>
        </p:nvSpPr>
        <p:spPr>
          <a:xfrm>
            <a:off x="9231480" y="707760"/>
            <a:ext cx="1430640" cy="837720"/>
          </a:xfrm>
          <a:prstGeom prst="ellipse">
            <a:avLst/>
          </a:prstGeom>
          <a:gradFill rotWithShape="0">
            <a:gsLst>
              <a:gs pos="0">
                <a:srgbClr val="B4C7DC"/>
              </a:gs>
              <a:gs pos="100000">
                <a:srgbClr val="FFD7D7"/>
              </a:gs>
            </a:gsLst>
            <a:path path="rect">
              <a:fillToRect l="50000" t="50000" r="50000" b="50000"/>
            </a:path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IC=0,45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31" dur="indefinite" restart="never" nodeType="tmRoot">
          <p:childTnLst>
            <p:seq>
              <p:cTn id="132" dur="indefinite" nodeType="mainSeq">
                <p:childTnLst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7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142" dur="2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Imagen 11"/>
          <p:cNvPicPr/>
          <p:nvPr/>
        </p:nvPicPr>
        <p:blipFill>
          <a:blip r:embed="rId1"/>
          <a:stretch/>
        </p:blipFill>
        <p:spPr>
          <a:xfrm>
            <a:off x="2302920" y="570240"/>
            <a:ext cx="8431200" cy="56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6" name=""/>
          <p:cNvSpPr/>
          <p:nvPr/>
        </p:nvSpPr>
        <p:spPr>
          <a:xfrm>
            <a:off x="9252720" y="621000"/>
            <a:ext cx="1430640" cy="837720"/>
          </a:xfrm>
          <a:prstGeom prst="ellipse">
            <a:avLst/>
          </a:prstGeom>
          <a:gradFill rotWithShape="0">
            <a:gsLst>
              <a:gs pos="0">
                <a:srgbClr val="B4C7DC"/>
              </a:gs>
              <a:gs pos="100000">
                <a:srgbClr val="FFD7D7"/>
              </a:gs>
            </a:gsLst>
            <a:path path="rect">
              <a:fillToRect l="50000" t="50000" r="50000" b="50000"/>
            </a:path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IC=0,58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43" dur="indefinite" restart="never" nodeType="tmRoot">
          <p:childTnLst>
            <p:seq>
              <p:cTn id="144" dur="indefinite" nodeType="mainSeq">
                <p:childTnLst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49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154" dur="2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Marcador de contenido 6"/>
          <p:cNvPicPr/>
          <p:nvPr/>
        </p:nvPicPr>
        <p:blipFill>
          <a:blip r:embed="rId1"/>
          <a:stretch/>
        </p:blipFill>
        <p:spPr>
          <a:xfrm>
            <a:off x="2378880" y="609840"/>
            <a:ext cx="8361360" cy="56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"/>
          <p:cNvSpPr/>
          <p:nvPr/>
        </p:nvSpPr>
        <p:spPr>
          <a:xfrm>
            <a:off x="9253080" y="621000"/>
            <a:ext cx="1430640" cy="837720"/>
          </a:xfrm>
          <a:prstGeom prst="ellipse">
            <a:avLst/>
          </a:prstGeom>
          <a:gradFill rotWithShape="0">
            <a:gsLst>
              <a:gs pos="0">
                <a:srgbClr val="B4C7DC"/>
              </a:gs>
              <a:gs pos="100000">
                <a:srgbClr val="FFD7D7"/>
              </a:gs>
            </a:gsLst>
            <a:path path="rect">
              <a:fillToRect l="50000" t="50000" r="50000" b="50000"/>
            </a:path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IC=0,16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55" dur="indefinite" restart="never" nodeType="tmRoot">
          <p:childTnLst>
            <p:seq>
              <p:cTn id="156" dur="indefinite" nodeType="mainSeq">
                <p:childTnLst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1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166" dur="2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Marcador de contenido 5"/>
          <p:cNvPicPr/>
          <p:nvPr/>
        </p:nvPicPr>
        <p:blipFill>
          <a:blip r:embed="rId1"/>
          <a:stretch/>
        </p:blipFill>
        <p:spPr>
          <a:xfrm>
            <a:off x="2252160" y="565560"/>
            <a:ext cx="8476560" cy="57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"/>
          <p:cNvSpPr/>
          <p:nvPr/>
        </p:nvSpPr>
        <p:spPr>
          <a:xfrm>
            <a:off x="8837280" y="621000"/>
            <a:ext cx="1846800" cy="837720"/>
          </a:xfrm>
          <a:prstGeom prst="ellipse">
            <a:avLst/>
          </a:prstGeom>
          <a:gradFill rotWithShape="0">
            <a:gsLst>
              <a:gs pos="0">
                <a:srgbClr val="B4C7DC"/>
              </a:gs>
              <a:gs pos="100000">
                <a:srgbClr val="FFD7D7"/>
              </a:gs>
            </a:gsLst>
            <a:path path="rect">
              <a:fillToRect l="50000" t="50000" r="50000" b="50000"/>
            </a:path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IC=-0,017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67" dur="indefinite" restart="never" nodeType="tmRoot">
          <p:childTnLst>
            <p:seq>
              <p:cTn id="168" dur="indefinite" nodeType="mainSeq">
                <p:childTnLst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73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178" dur="2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Marcador de contenido 6"/>
          <p:cNvPicPr/>
          <p:nvPr/>
        </p:nvPicPr>
        <p:blipFill>
          <a:blip r:embed="rId1"/>
          <a:stretch/>
        </p:blipFill>
        <p:spPr>
          <a:xfrm>
            <a:off x="2638440" y="338760"/>
            <a:ext cx="7405200" cy="609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79" dur="indefinite" restart="never" nodeType="tmRoot">
          <p:childTnLst>
            <p:seq>
              <p:cTn id="180" dur="indefinite" nodeType="mainSeq">
                <p:childTnLst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85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4264920" cy="77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Hipótesis principal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593" name=""/>
          <p:cNvPicPr/>
          <p:nvPr/>
        </p:nvPicPr>
        <p:blipFill>
          <a:blip r:embed="rId1"/>
          <a:stretch/>
        </p:blipFill>
        <p:spPr>
          <a:xfrm>
            <a:off x="6406920" y="1676520"/>
            <a:ext cx="5563800" cy="414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4" name=""/>
          <p:cNvPicPr/>
          <p:nvPr/>
        </p:nvPicPr>
        <p:blipFill>
          <a:blip r:embed="rId2"/>
          <a:stretch/>
        </p:blipFill>
        <p:spPr>
          <a:xfrm>
            <a:off x="516600" y="1686600"/>
            <a:ext cx="5569920" cy="414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86" dur="indefinite" restart="never" nodeType="tmRoot">
          <p:childTnLst>
            <p:seq>
              <p:cTn id="187" dur="indefinite" nodeType="mainSeq">
                <p:childTnLst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"/>
                            </p:stCondLst>
                            <p:childTnLst>
                              <p:par>
                                <p:cTn id="193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/>
          </p:nvPr>
        </p:nvSpPr>
        <p:spPr>
          <a:xfrm>
            <a:off x="2538360" y="2133720"/>
            <a:ext cx="891324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1001"/>
              </a:spcBef>
              <a:buNone/>
            </a:pP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596" name=""/>
          <p:cNvPicPr/>
          <p:nvPr/>
        </p:nvPicPr>
        <p:blipFill>
          <a:blip r:embed="rId1"/>
          <a:stretch/>
        </p:blipFill>
        <p:spPr>
          <a:xfrm>
            <a:off x="4572000" y="3548520"/>
            <a:ext cx="4028040" cy="313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7" name=""/>
          <p:cNvPicPr/>
          <p:nvPr/>
        </p:nvPicPr>
        <p:blipFill>
          <a:blip r:embed="rId2"/>
          <a:stretch/>
        </p:blipFill>
        <p:spPr>
          <a:xfrm>
            <a:off x="7293240" y="313200"/>
            <a:ext cx="3946680" cy="310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8" name="Imagen 3"/>
          <p:cNvPicPr/>
          <p:nvPr/>
        </p:nvPicPr>
        <p:blipFill>
          <a:blip r:embed="rId3"/>
          <a:stretch/>
        </p:blipFill>
        <p:spPr>
          <a:xfrm>
            <a:off x="1957320" y="311400"/>
            <a:ext cx="3999240" cy="314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195" dur="indefinite" restart="never" nodeType="tmRoot">
          <p:childTnLst>
            <p:seq>
              <p:cTn id="196" dur="indefinite" nodeType="mainSeq">
                <p:childTnLst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"/>
                            </p:stCondLst>
                            <p:childTnLst>
                              <p:par>
                                <p:cTn id="202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02"/>
                            </p:stCondLst>
                            <p:childTnLst>
                              <p:par>
                                <p:cTn id="205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2937960" cy="72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Subhipótesis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/>
          </p:nvPr>
        </p:nvSpPr>
        <p:spPr>
          <a:xfrm>
            <a:off x="2529720" y="1625760"/>
            <a:ext cx="891324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“La importancia de la motivación de un estudiante a la hora de la nota final”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601" name=""/>
          <p:cNvPicPr/>
          <p:nvPr/>
        </p:nvPicPr>
        <p:blipFill>
          <a:blip r:embed="rId1"/>
          <a:stretch/>
        </p:blipFill>
        <p:spPr>
          <a:xfrm>
            <a:off x="3971880" y="2404440"/>
            <a:ext cx="5967360" cy="388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207" dur="indefinite" restart="never" nodeType="tmRoot">
          <p:childTnLst>
            <p:seq>
              <p:cTn id="208" dur="indefinite" nodeType="mainSeq">
                <p:childTnLst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13" dur="2000"/>
                                        <p:tgtEl>
                                          <p:spTgt spid="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18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2937960" cy="72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Subhipótesis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603" name=""/>
          <p:cNvPicPr/>
          <p:nvPr/>
        </p:nvPicPr>
        <p:blipFill>
          <a:blip r:embed="rId1"/>
          <a:stretch/>
        </p:blipFill>
        <p:spPr>
          <a:xfrm>
            <a:off x="2658960" y="1404720"/>
            <a:ext cx="7837560" cy="509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219" dur="indefinite" restart="never" nodeType="tmRoot">
          <p:childTnLst>
            <p:seq>
              <p:cTn id="220" dur="indefinite" nodeType="mainSeq">
                <p:childTnLst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25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3349080" cy="61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Conclusiones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5" name="PlaceHolder 2"/>
          <p:cNvSpPr>
            <a:spLocks noGrp="1"/>
          </p:cNvSpPr>
          <p:nvPr>
            <p:ph/>
          </p:nvPr>
        </p:nvSpPr>
        <p:spPr>
          <a:xfrm>
            <a:off x="2419560" y="1710720"/>
            <a:ext cx="8913240" cy="109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Hipótesis Principal: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“Los estudiantes con una buena organización de estudio tienen más probabilidades de sacar mejor nota”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6" name="Marcador de contenido 3"/>
          <p:cNvSpPr/>
          <p:nvPr/>
        </p:nvSpPr>
        <p:spPr>
          <a:xfrm>
            <a:off x="2343960" y="3951000"/>
            <a:ext cx="8913240" cy="14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7" name=""/>
          <p:cNvGraphicFramePr/>
          <p:nvPr/>
        </p:nvGraphicFramePr>
        <p:xfrm>
          <a:off x="4627080" y="3882960"/>
          <a:ext cx="5500080" cy="2007720"/>
        </p:xfrm>
        <a:graphic>
          <a:graphicData uri="http://schemas.openxmlformats.org/drawingml/2006/table">
            <a:tbl>
              <a:tblPr/>
              <a:tblGrid>
                <a:gridCol w="2749680"/>
                <a:gridCol w="2750760"/>
              </a:tblGrid>
              <a:tr h="21240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Nivel de afectación en la nota del examen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Índice de Correlación (IC)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2240">
                      <a:noFill/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Attendance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0,58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Study Hours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0,46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Tutoring Sessions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0,16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Resto de variables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~0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226" dur="indefinite" restart="never" nodeType="tmRoot">
          <p:childTnLst>
            <p:seq>
              <p:cTn id="227" dur="indefinite" nodeType="mainSeq">
                <p:childTnLst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32" dur="2000"/>
                                        <p:tgtEl>
                                          <p:spTgt spid="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8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35" dur="2000"/>
                                        <p:tgtEl>
                                          <p:spTgt spid="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5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240"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3349080" cy="61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Conclusiones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9" name="Marcador de contenido 7"/>
          <p:cNvSpPr/>
          <p:nvPr/>
        </p:nvSpPr>
        <p:spPr>
          <a:xfrm>
            <a:off x="2301480" y="1716120"/>
            <a:ext cx="8913240" cy="14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Subhipótesis: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“La importancia de la motivación de un estudiante a la hora de la nota final”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6307200" y="3191760"/>
            <a:ext cx="726480" cy="1361520"/>
          </a:xfrm>
          <a:prstGeom prst="downArrow">
            <a:avLst>
              <a:gd name="adj1" fmla="val 50000"/>
              <a:gd name="adj2" fmla="val 46810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2734560" y="5105160"/>
            <a:ext cx="2682360" cy="11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s-ES" sz="3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Nivel de Motivación</a:t>
            </a:r>
            <a:endParaRPr lang="es-E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8373600" y="5055120"/>
            <a:ext cx="2394720" cy="11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s-ES" sz="3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 del Examen</a:t>
            </a:r>
            <a:endParaRPr lang="es-E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8796960" y="3191760"/>
            <a:ext cx="726480" cy="1361520"/>
          </a:xfrm>
          <a:prstGeom prst="downArrow">
            <a:avLst>
              <a:gd name="adj1" fmla="val 50000"/>
              <a:gd name="adj2" fmla="val 46810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3869280" y="3191760"/>
            <a:ext cx="726480" cy="1361520"/>
          </a:xfrm>
          <a:prstGeom prst="downArrow">
            <a:avLst>
              <a:gd name="adj1" fmla="val 50000"/>
              <a:gd name="adj2" fmla="val 46810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 flipV="1">
            <a:off x="5774040" y="5021280"/>
            <a:ext cx="1981440" cy="982080"/>
          </a:xfrm>
          <a:prstGeom prst="line">
            <a:avLst/>
          </a:prstGeom>
          <a:ln w="180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35000" rIns="180000" bIns="13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5824800" y="5021280"/>
            <a:ext cx="1981440" cy="982080"/>
          </a:xfrm>
          <a:prstGeom prst="line">
            <a:avLst/>
          </a:prstGeom>
          <a:ln w="180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35000" rIns="180000" bIns="13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  <p:timing>
    <p:tnLst>
      <p:par>
        <p:cTn id="241" dur="indefinite" restart="never" nodeType="tmRoot">
          <p:childTnLst>
            <p:seq>
              <p:cTn id="242" dur="indefinite" nodeType="mainSeq">
                <p:childTnLst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47" dur="2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"/>
                            </p:stCondLst>
                            <p:childTnLst>
                              <p:par>
                                <p:cTn id="253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202"/>
                            </p:stCondLst>
                            <p:childTnLst>
                              <p:par>
                                <p:cTn id="256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4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62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500"/>
                            </p:stCondLst>
                            <p:childTnLst>
                              <p:par>
                                <p:cTn id="264" presetID="4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66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500"/>
                            </p:stCondLst>
                            <p:childTnLst>
                              <p:par>
                                <p:cTn id="268" presetID="4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70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500"/>
                            </p:stCondLst>
                            <p:childTnLst>
                              <p:par>
                                <p:cTn id="272" presetID="4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74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2589120" y="946800"/>
            <a:ext cx="8913240" cy="272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ESKERRIK ASKO</a:t>
            </a:r>
            <a:endParaRPr lang="es-ES" sz="7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/>
          </p:nvPr>
        </p:nvSpPr>
        <p:spPr>
          <a:xfrm>
            <a:off x="2589120" y="5181480"/>
            <a:ext cx="8913240" cy="72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Proyecto EDA – Notas de exámenes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Espiral">
  <a:themeElements>
    <a:clrScheme name="Espiral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758</TotalTime>
  <Application>LibreOffice/26.2.2.2$Windows_X86_64 LibreOffice_project/1f77d10d6938fd34972958f64b2bcfa54f8b1ba5</Application>
  <AppVersion>15.0000</AppVersion>
  <Words>322</Words>
  <Paragraphs>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2026-04-07T15:41:30Z</dcterms:created>
  <dc:creator>Héctor</dc:creator>
  <dc:description/>
  <dc:language>es-ES</dc:language>
  <cp:lastModifiedBy/>
  <dcterms:modified xsi:type="dcterms:W3CDTF">2026-04-15T09:39:00Z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Panorámica</vt:lpwstr>
  </property>
  <property fmtid="{D5CDD505-2E9C-101B-9397-08002B2CF9AE}" pid="4" name="Slides">
    <vt:i4>15</vt:i4>
  </property>
</Properties>
</file>