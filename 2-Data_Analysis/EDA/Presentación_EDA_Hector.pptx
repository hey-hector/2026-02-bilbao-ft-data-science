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theme/theme1.xml" ContentType="application/vnd.openxmlformats-officedocument.theme+xml"/>
  <Override PartName="/ppt/theme/theme17.xml" ContentType="application/vnd.openxmlformats-officedocument.theme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Masters/slideMaster1.xml" ContentType="application/vnd.openxmlformats-officedocument.presentationml.slideMaster+xml"/>
  <Override PartName="/ppt/notesSlides/notesSlide1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7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r>
              <a:rPr lang="es-ES" sz="5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Pulse para desplazar la diapositiva</a:t>
            </a:r>
            <a:endParaRPr lang="es-ES" sz="5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4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Pulse para editar el formato de las notas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&lt;cabecera&gt;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3" name="PlaceHolder 4"/>
          <p:cNvSpPr>
            <a:spLocks noGrp="1"/>
          </p:cNvSpPr>
          <p:nvPr>
            <p:ph type="dt" idx="49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&lt;fecha/hora&gt;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4" name="PlaceHolder 5"/>
          <p:cNvSpPr>
            <a:spLocks noGrp="1"/>
          </p:cNvSpPr>
          <p:nvPr>
            <p:ph type="ftr" idx="50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5" name="PlaceHolder 6"/>
          <p:cNvSpPr>
            <a:spLocks noGrp="1"/>
          </p:cNvSpPr>
          <p:nvPr>
            <p:ph type="sldNum" idx="51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54F38FDE-14E8-4ADB-AD63-93729BA19B6E}" type="slidenum"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&lt;número&gt;</a:t>
            </a:fld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803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just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Siempre nos hemos preguntado cómo podemos sacar mejores notas; pues aquí veremos qué hábitos de estudio afectan a ello y cuáles no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2" name="PlaceHolder 3"/>
          <p:cNvSpPr>
            <a:spLocks noGrp="1"/>
          </p:cNvSpPr>
          <p:nvPr>
            <p:ph type="sldNum" idx="52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B7B3F945-E667-446D-BC5D-70A26232F6A7}" type="slidenum"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17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24" name=""/>
          <p:cNvSpPr/>
          <p:nvPr/>
        </p:nvSpPr>
        <p:spPr>
          <a:xfrm>
            <a:off x="551880" y="4544280"/>
            <a:ext cx="6046200" cy="207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tIns="0" rIns="0" bIns="0" anchor="t">
            <a:noAutofit/>
          </a:bodyPr>
          <a:p>
            <a:pPr algn="just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Los alumnos tienen diferentes backgrounds, ya que han crecido en diferentes entornos. Esto se ha medido mediante: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educación de los padres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El tipo de escuela al que el alumno ha acudido: pública o privada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algn="just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Los ingresos anuales familiares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4240" cy="3084120"/>
          </a:xfrm>
          <a:prstGeom prst="rect">
            <a:avLst/>
          </a:prstGeom>
          <a:ln w="0">
            <a:noFill/>
          </a:ln>
        </p:spPr>
      </p:sp>
      <p:sp>
        <p:nvSpPr>
          <p:cNvPr id="62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4240" cy="2936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(mín=55)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Vemos la distribución y la frecuencia de las notas del examen dividido en rangos por columnas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Estas columnas están divididas por cuántos estudiantes caen dentro de este rango. Ejemplo: 1500 estudiantes han sacado entre 60 y 65.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Columna más alta nos indica dónde se concentran la mayoría de los datos; es decir, la mayoría de los estudiantes han sacado entre 65 y 70 → sacar media: 67,24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27" name="PlaceHolder 3"/>
          <p:cNvSpPr>
            <a:spLocks noGrp="1"/>
          </p:cNvSpPr>
          <p:nvPr>
            <p:ph type="sldNum" idx="53"/>
          </p:nvPr>
        </p:nvSpPr>
        <p:spPr>
          <a:xfrm>
            <a:off x="3884760" y="8685360"/>
            <a:ext cx="2969640" cy="456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pos="0" algn="l"/>
              </a:tabLst>
              <a:def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pos="0" algn="l"/>
              </a:tabLst>
            </a:pPr>
            <a:fld id="{EE332EF2-C273-499A-8158-06D7B3D41A18}" type="slidenum">
              <a:rPr lang="es-ES" sz="12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17</a:t>
            </a:fld>
            <a:endParaRPr lang="es-E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840" cy="4007520"/>
          </a:xfrm>
          <a:prstGeom prst="rect">
            <a:avLst/>
          </a:prstGeom>
          <a:ln w="0">
            <a:noFill/>
          </a:ln>
        </p:spPr>
      </p:sp>
      <p:sp>
        <p:nvSpPr>
          <p:cNvPr id="629" name="PlaceHolder 2"/>
          <p:cNvSpPr>
            <a:spLocks noGrp="1"/>
          </p:cNvSpPr>
          <p:nvPr>
            <p:ph type="body"/>
          </p:nvPr>
        </p:nvSpPr>
        <p:spPr>
          <a:xfrm>
            <a:off x="437400" y="5078520"/>
            <a:ext cx="6046200" cy="629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Preguntar al público: ¿qué créeis que se tiene en cuenta a la hora de organizar tus estudios?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631" name="PlaceHolder 2"/>
          <p:cNvSpPr>
            <a:spLocks noGrp="1"/>
          </p:cNvSpPr>
          <p:nvPr>
            <p:ph type="body"/>
          </p:nvPr>
        </p:nvSpPr>
        <p:spPr>
          <a:xfrm>
            <a:off x="426960" y="4292640"/>
            <a:ext cx="5996160" cy="1665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La línea roja es la línea de regresión lineal (o línea de tendencia)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Muestra la dirección de la relación entre las dos variables: como la línea sube, hay una relación positiva: contra más horas se estudia, mejor nota se sacará 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Índice de correlación (IC): 0,45; contra más cerca del 1, más impacto tendrá esa variable en la nota final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2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633" name="PlaceHolder 2"/>
          <p:cNvSpPr>
            <a:spLocks noGrp="1"/>
          </p:cNvSpPr>
          <p:nvPr>
            <p:ph type="body"/>
          </p:nvPr>
        </p:nvSpPr>
        <p:spPr>
          <a:xfrm>
            <a:off x="467280" y="4428720"/>
            <a:ext cx="6045840" cy="943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Contra más se atienda a clase, mejor nota se sacará.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Índice de correlación (IC): 0,58; por lo que esta variable afecta más que las “Hours_Studied”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635" name="PlaceHolder 2"/>
          <p:cNvSpPr>
            <a:spLocks noGrp="1"/>
          </p:cNvSpPr>
          <p:nvPr>
            <p:ph type="body"/>
          </p:nvPr>
        </p:nvSpPr>
        <p:spPr>
          <a:xfrm>
            <a:off x="507240" y="4412880"/>
            <a:ext cx="6045840" cy="100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Hay una relación positiva pero la tendencia no es tan fuerte como en los 2 casos anteriores; es decir,contra más tutorías se hagan, no se tiene por qué sacar mejor nota aunque hay alguna probabilidad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Esto se ve porque la pendiente de la línea roja no es tan empinada como las anteriores: contra menos inclinación, la relación entre variables es menos fuerte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IC: 0,16 -&gt; contra más cerca del 0, menos impacto tendrá esa variable en la nota final, siendo 0 ninguna relación entre variables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6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637" name="PlaceHolder 2"/>
          <p:cNvSpPr>
            <a:spLocks noGrp="1"/>
          </p:cNvSpPr>
          <p:nvPr>
            <p:ph type="body"/>
          </p:nvPr>
        </p:nvSpPr>
        <p:spPr>
          <a:xfrm>
            <a:off x="443160" y="4268160"/>
            <a:ext cx="6045840" cy="12405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IC: -0,017 -&gt; contra más cerca del 0, menos impacto tendrá esa variable en la nota final, siendo 0 ninguna relación entre variables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Conclusión: no hay ninguna relación entre estas variables.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spcBef>
                <a:spcPts val="1191"/>
              </a:spcBef>
              <a:spcAft>
                <a:spcPts val="992"/>
              </a:spcAft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  <a:ea typeface="Microsoft YaHei"/>
              </a:rPr>
              <a:t>El valor negativo no afecta a la relación si está cerca del 0, pero en caso de que el IC esté más cerca del -1, las variables tendrían un valor negativo; es decir, en este ejemplo si el IC fuera -0,917 significaría que contra menos se duerma de media por noche, mejor nota se saca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639" name="PlaceHolder 2"/>
          <p:cNvSpPr>
            <a:spLocks noGrp="1"/>
          </p:cNvSpPr>
          <p:nvPr>
            <p:ph type="body"/>
          </p:nvPr>
        </p:nvSpPr>
        <p:spPr>
          <a:xfrm>
            <a:off x="467280" y="4404600"/>
            <a:ext cx="6045840" cy="2941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Ejemplo mapa de calor que relaciona todas las variables Numéricas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PlaceHolder 1"/>
          <p:cNvSpPr>
            <a:spLocks noGrp="1"/>
          </p:cNvSpPr>
          <p:nvPr>
            <p:ph type="sldImg"/>
          </p:nvPr>
        </p:nvSpPr>
        <p:spPr>
          <a:xfrm>
            <a:off x="380880" y="694800"/>
            <a:ext cx="6093720" cy="3426840"/>
          </a:xfrm>
          <a:prstGeom prst="rect">
            <a:avLst/>
          </a:prstGeom>
          <a:ln w="0">
            <a:noFill/>
          </a:ln>
        </p:spPr>
      </p:sp>
      <p:sp>
        <p:nvSpPr>
          <p:cNvPr id="641" name="PlaceHolder 2"/>
          <p:cNvSpPr>
            <a:spLocks noGrp="1"/>
          </p:cNvSpPr>
          <p:nvPr>
            <p:ph type="body"/>
          </p:nvPr>
        </p:nvSpPr>
        <p:spPr>
          <a:xfrm>
            <a:off x="426960" y="4292280"/>
            <a:ext cx="6045840" cy="1409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Para variables Categóricas, se dibuja un gráfico de promedios que representa la media de los valores de cada variable vs Exam_Score y se ve que cada grupo da muy parecido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5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Estas variables no influyen significativamente en el resultado del examen</a:t>
            </a:r>
            <a:endParaRPr lang="es-ES" sz="1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840" cy="4007520"/>
          </a:xfrm>
          <a:prstGeom prst="rect">
            <a:avLst/>
          </a:prstGeom>
          <a:ln w="0">
            <a:noFill/>
          </a:ln>
        </p:spPr>
      </p:sp>
      <p:sp>
        <p:nvSpPr>
          <p:cNvPr id="643" name="PlaceHolder 2"/>
          <p:cNvSpPr>
            <a:spLocks noGrp="1"/>
          </p:cNvSpPr>
          <p:nvPr>
            <p:ph type="body"/>
          </p:nvPr>
        </p:nvSpPr>
        <p:spPr>
          <a:xfrm>
            <a:off x="1063080" y="5078520"/>
            <a:ext cx="4986000" cy="6973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¿Opináis que la motivación de un estudiante afecta a la nota final?</a:t>
            </a:r>
            <a:endParaRPr lang="es-E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840" cy="4007520"/>
          </a:xfrm>
          <a:prstGeom prst="rect">
            <a:avLst/>
          </a:prstGeom>
          <a:ln w="0">
            <a:noFill/>
          </a:ln>
        </p:spPr>
      </p:sp>
      <p:sp>
        <p:nvSpPr>
          <p:cNvPr id="645" name="PlaceHolder 2"/>
          <p:cNvSpPr>
            <a:spLocks noGrp="1"/>
          </p:cNvSpPr>
          <p:nvPr>
            <p:ph type="body"/>
          </p:nvPr>
        </p:nvSpPr>
        <p:spPr>
          <a:xfrm>
            <a:off x="739440" y="5095440"/>
            <a:ext cx="5595120" cy="8751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just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Muestra para cada valor de “Motivation_Level” la forma de los datos, es decir, dónde se concentra la mayoría de los datos: la densidad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ítulo y objetos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3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3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16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8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09640" cy="127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8913240" cy="377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dt" idx="1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ftr" idx="2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" name="Freeform 11"/>
          <p:cNvSpPr/>
          <p:nvPr/>
        </p:nvSpPr>
        <p:spPr>
          <a:xfrm flipV="1">
            <a:off x="-2160" y="709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 type="sldNum" idx="3"/>
          </p:nvPr>
        </p:nvSpPr>
        <p:spPr>
          <a:xfrm>
            <a:off x="531720" y="78768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974757C-C4BC-4BD5-8C81-8C020B7DA5BE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cabezado de sección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36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3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49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4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5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6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7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8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9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0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1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2589120" y="2058840"/>
            <a:ext cx="8913240" cy="1466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4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 type="body"/>
          </p:nvPr>
        </p:nvSpPr>
        <p:spPr>
          <a:xfrm>
            <a:off x="2589120" y="3530160"/>
            <a:ext cx="8913240" cy="858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20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 type="dt" idx="4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4"/>
          <p:cNvSpPr>
            <a:spLocks noGrp="1"/>
          </p:cNvSpPr>
          <p:nvPr>
            <p:ph type="ftr" idx="5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Freeform 11"/>
          <p:cNvSpPr/>
          <p:nvPr/>
        </p:nvSpPr>
        <p:spPr>
          <a:xfrm flipV="1">
            <a:off x="-2160" y="3175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7" name="PlaceHolder 5"/>
          <p:cNvSpPr>
            <a:spLocks noGrp="1"/>
          </p:cNvSpPr>
          <p:nvPr>
            <p:ph type="sldNum" idx="6"/>
          </p:nvPr>
        </p:nvSpPr>
        <p:spPr>
          <a:xfrm>
            <a:off x="531720" y="324396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5219B63B-E26F-4298-822C-FF433A5AD832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Dos objetos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69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0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1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2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3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4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5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7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8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9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0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81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82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3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5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6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7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8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9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0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1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2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94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09640" cy="127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96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4311720" cy="377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97" name="PlaceHolder 3"/>
          <p:cNvSpPr>
            <a:spLocks noGrp="1"/>
          </p:cNvSpPr>
          <p:nvPr>
            <p:ph type="body"/>
          </p:nvPr>
        </p:nvSpPr>
        <p:spPr>
          <a:xfrm>
            <a:off x="7190640" y="2126160"/>
            <a:ext cx="4311720" cy="377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98" name="PlaceHolder 4"/>
          <p:cNvSpPr>
            <a:spLocks noGrp="1"/>
          </p:cNvSpPr>
          <p:nvPr>
            <p:ph type="dt" idx="7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9" name="PlaceHolder 5"/>
          <p:cNvSpPr>
            <a:spLocks noGrp="1"/>
          </p:cNvSpPr>
          <p:nvPr>
            <p:ph type="ftr" idx="8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0" name="Freeform 11"/>
          <p:cNvSpPr/>
          <p:nvPr/>
        </p:nvSpPr>
        <p:spPr>
          <a:xfrm flipV="1">
            <a:off x="-2160" y="709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01" name="PlaceHolder 6"/>
          <p:cNvSpPr>
            <a:spLocks noGrp="1"/>
          </p:cNvSpPr>
          <p:nvPr>
            <p:ph type="sldNum" idx="9"/>
          </p:nvPr>
        </p:nvSpPr>
        <p:spPr>
          <a:xfrm>
            <a:off x="531720" y="78768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20B1B0C-F16A-4221-8368-B3B7B2422601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ación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103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4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5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6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7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8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09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0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1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2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3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4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15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116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7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8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0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2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4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5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6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7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28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09640" cy="127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body"/>
          </p:nvPr>
        </p:nvSpPr>
        <p:spPr>
          <a:xfrm>
            <a:off x="2939400" y="1972800"/>
            <a:ext cx="3990600" cy="57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31" name="PlaceHolder 3"/>
          <p:cNvSpPr>
            <a:spLocks noGrp="1"/>
          </p:cNvSpPr>
          <p:nvPr>
            <p:ph type="body"/>
          </p:nvPr>
        </p:nvSpPr>
        <p:spPr>
          <a:xfrm>
            <a:off x="2589120" y="2548800"/>
            <a:ext cx="4340880" cy="335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32" name="PlaceHolder 4"/>
          <p:cNvSpPr>
            <a:spLocks noGrp="1"/>
          </p:cNvSpPr>
          <p:nvPr>
            <p:ph type="body"/>
          </p:nvPr>
        </p:nvSpPr>
        <p:spPr>
          <a:xfrm>
            <a:off x="7506720" y="1969560"/>
            <a:ext cx="3996720" cy="5742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33" name="PlaceHolder 5"/>
          <p:cNvSpPr>
            <a:spLocks noGrp="1"/>
          </p:cNvSpPr>
          <p:nvPr>
            <p:ph type="body"/>
          </p:nvPr>
        </p:nvSpPr>
        <p:spPr>
          <a:xfrm>
            <a:off x="7166880" y="2545560"/>
            <a:ext cx="4336560" cy="3351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tabLst>
                <a:tab pos="0" algn="l"/>
              </a:tabLst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34" name="PlaceHolder 6"/>
          <p:cNvSpPr>
            <a:spLocks noGrp="1"/>
          </p:cNvSpPr>
          <p:nvPr>
            <p:ph type="dt" idx="10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5" name="PlaceHolder 7"/>
          <p:cNvSpPr>
            <a:spLocks noGrp="1"/>
          </p:cNvSpPr>
          <p:nvPr>
            <p:ph type="ftr" idx="11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36" name="Freeform 11"/>
          <p:cNvSpPr/>
          <p:nvPr/>
        </p:nvSpPr>
        <p:spPr>
          <a:xfrm flipV="1">
            <a:off x="-2160" y="709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37" name="PlaceHolder 8"/>
          <p:cNvSpPr>
            <a:spLocks noGrp="1"/>
          </p:cNvSpPr>
          <p:nvPr>
            <p:ph type="sldNum" idx="12"/>
          </p:nvPr>
        </p:nvSpPr>
        <p:spPr>
          <a:xfrm>
            <a:off x="531720" y="78768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30025CD3-AE2E-4B03-8A2F-BA554721F4C7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Solo el título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8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139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0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1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2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3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4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5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6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7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8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49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0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51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152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3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4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5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6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7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8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9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0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1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2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3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64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09640" cy="127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dt" idx="13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ftr" idx="14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68" name="Freeform 11"/>
          <p:cNvSpPr/>
          <p:nvPr/>
        </p:nvSpPr>
        <p:spPr>
          <a:xfrm flipV="1">
            <a:off x="-2160" y="709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69" name="PlaceHolder 4"/>
          <p:cNvSpPr>
            <a:spLocks noGrp="1"/>
          </p:cNvSpPr>
          <p:nvPr>
            <p:ph type="sldNum" idx="15"/>
          </p:nvPr>
        </p:nvSpPr>
        <p:spPr>
          <a:xfrm>
            <a:off x="531720" y="78768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CCA12E77-2D4D-4077-94C1-CA43D77E6B1F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En blanco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0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171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2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3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4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5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6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7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8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9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0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1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2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3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184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5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6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7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8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9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0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1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2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3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4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95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196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7" name="PlaceHolder 1"/>
          <p:cNvSpPr>
            <a:spLocks noGrp="1"/>
          </p:cNvSpPr>
          <p:nvPr>
            <p:ph type="dt" idx="16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 type="ftr" idx="17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9" name="Freeform 11"/>
          <p:cNvSpPr/>
          <p:nvPr/>
        </p:nvSpPr>
        <p:spPr>
          <a:xfrm flipV="1">
            <a:off x="-2160" y="709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0" name="PlaceHolder 3"/>
          <p:cNvSpPr>
            <a:spLocks noGrp="1"/>
          </p:cNvSpPr>
          <p:nvPr>
            <p:ph type="sldNum" idx="18"/>
          </p:nvPr>
        </p:nvSpPr>
        <p:spPr>
          <a:xfrm>
            <a:off x="531720" y="78768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738D660E-43D0-4F27-AD9E-374DB2A7961A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ido con título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202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3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4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5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6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7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8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9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0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2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14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215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6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7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8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9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0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1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2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3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4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5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6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7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2589120" y="446040"/>
            <a:ext cx="3503160" cy="9741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2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323040" y="446040"/>
            <a:ext cx="5179320" cy="54129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2589120" y="1598760"/>
            <a:ext cx="3503160" cy="42602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dt" idx="19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2" name="PlaceHolder 5"/>
          <p:cNvSpPr>
            <a:spLocks noGrp="1"/>
          </p:cNvSpPr>
          <p:nvPr>
            <p:ph type="ftr" idx="20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3" name="Freeform 11"/>
          <p:cNvSpPr/>
          <p:nvPr/>
        </p:nvSpPr>
        <p:spPr>
          <a:xfrm flipV="1">
            <a:off x="-2160" y="709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6"/>
          <p:cNvSpPr>
            <a:spLocks noGrp="1"/>
          </p:cNvSpPr>
          <p:nvPr>
            <p:ph type="sldNum" idx="21"/>
          </p:nvPr>
        </p:nvSpPr>
        <p:spPr>
          <a:xfrm>
            <a:off x="531720" y="78768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1F25FC28-B84D-482E-83DD-9A743FFF0C13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Imagen con título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5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236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7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8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39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0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1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2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3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4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5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6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47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48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249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0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1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2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3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4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5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6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7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8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59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60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61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2589120" y="4800600"/>
            <a:ext cx="8913240" cy="5644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2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body"/>
          </p:nvPr>
        </p:nvSpPr>
        <p:spPr>
          <a:xfrm>
            <a:off x="2589120" y="635040"/>
            <a:ext cx="8913240" cy="385272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>
            <a:lvl1pPr indent="0" algn="ctr" defTabSz="457200">
              <a:lnSpc>
                <a:spcPct val="100000"/>
              </a:lnSpc>
              <a:buNone/>
              <a:tabLst>
                <a:tab pos="0" algn="l"/>
              </a:tabLst>
              <a:defRPr lang="es-ES" sz="1600" b="0" u="none" strike="noStrike">
                <a:solidFill>
                  <a:schemeClr val="dk1"/>
                </a:solidFill>
                <a:effectLst/>
                <a:uFillTx/>
                <a:latin typeface="Century Gothic"/>
              </a:defRPr>
            </a:lvl1pPr>
          </a:lstStyle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Haga clic en el icono para agregar una imagen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64" name="PlaceHolder 3"/>
          <p:cNvSpPr>
            <a:spLocks noGrp="1"/>
          </p:cNvSpPr>
          <p:nvPr>
            <p:ph type="body"/>
          </p:nvPr>
        </p:nvSpPr>
        <p:spPr>
          <a:xfrm>
            <a:off x="2589120" y="5367240"/>
            <a:ext cx="8913240" cy="4914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65" name="PlaceHolder 4"/>
          <p:cNvSpPr>
            <a:spLocks noGrp="1"/>
          </p:cNvSpPr>
          <p:nvPr>
            <p:ph type="dt" idx="22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6" name="PlaceHolder 5"/>
          <p:cNvSpPr>
            <a:spLocks noGrp="1"/>
          </p:cNvSpPr>
          <p:nvPr>
            <p:ph type="ftr" idx="23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67" name="Freeform 11"/>
          <p:cNvSpPr/>
          <p:nvPr/>
        </p:nvSpPr>
        <p:spPr>
          <a:xfrm flipV="1">
            <a:off x="-2160" y="490968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68" name="PlaceHolder 6"/>
          <p:cNvSpPr>
            <a:spLocks noGrp="1"/>
          </p:cNvSpPr>
          <p:nvPr>
            <p:ph type="sldNum" idx="24"/>
          </p:nvPr>
        </p:nvSpPr>
        <p:spPr>
          <a:xfrm>
            <a:off x="531720" y="498312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FF0BB74-A560-482A-AB5B-BE38D8C5B597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iapositiva de título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9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270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1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2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3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4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5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6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7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8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79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0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1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282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283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4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5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6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7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8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89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0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1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2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3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94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95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3240" cy="226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 fontScale="92500" lnSpcReduction="9999"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5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5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5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dt" idx="25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8" name="PlaceHolder 3"/>
          <p:cNvSpPr>
            <a:spLocks noGrp="1"/>
          </p:cNvSpPr>
          <p:nvPr>
            <p:ph type="ftr" idx="26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99" name="Freeform 6"/>
          <p:cNvSpPr/>
          <p:nvPr/>
        </p:nvSpPr>
        <p:spPr>
          <a:xfrm>
            <a:off x="0" y="4323960"/>
            <a:ext cx="1742400" cy="776520"/>
          </a:xfrm>
          <a:custGeom>
            <a:avLst/>
            <a:gdLst>
              <a:gd name="textAreaLeft" fmla="*/ 0 w 1742400"/>
              <a:gd name="textAreaRight" fmla="*/ 1744560 w 1742400"/>
              <a:gd name="textAreaTop" fmla="*/ 0 h 776520"/>
              <a:gd name="textAreaBottom" fmla="*/ 778680 h 776520"/>
            </a:gdLst>
            <a:ahLst/>
            <a:cxnLst/>
            <a:rect l="textAreaLeft" t="textAreaTop" r="textAreaRight" b="textAreaBottom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00" name="PlaceHolder 4"/>
          <p:cNvSpPr>
            <a:spLocks noGrp="1"/>
          </p:cNvSpPr>
          <p:nvPr>
            <p:ph type="sldNum" idx="27"/>
          </p:nvPr>
        </p:nvSpPr>
        <p:spPr>
          <a:xfrm>
            <a:off x="531720" y="452952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EA645DC7-216C-494E-BC8F-51B57F327CA6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1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0640" cy="3975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  <a:lvl6pPr lvl="5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6pPr>
            <a:lvl7pPr lvl="6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7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n-U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Pulse para editar el formato de texto del esquema</a:t>
            </a:r>
            <a:endParaRPr lang="en-U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864000" lvl="1" indent="-324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 del esquema</a:t>
            </a:r>
            <a:endParaRPr lang="en-U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296000" lvl="2" indent="-288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 del esquema</a:t>
            </a:r>
            <a:endParaRPr lang="en-U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728000" lvl="3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 del esquema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160000" lvl="4" indent="-216000" algn="l" defTabSz="457200">
              <a:lnSpc>
                <a:spcPct val="10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 del esquema</a:t>
            </a:r>
            <a:endParaRPr lang="en-U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592000" lvl="5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Sexto nivel del esquema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3024000" lvl="6" indent="-216000" algn="l" defTabSz="457200">
              <a:lnSpc>
                <a:spcPct val="10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Séptimo nivel del esquema</a:t>
            </a:r>
            <a:endParaRPr lang="en-US" sz="20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ítulo y descripción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303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4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5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6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7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8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09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0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1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2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3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4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15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316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7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8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19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0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1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2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3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4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5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6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27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28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29" name="PlaceHolder 1"/>
          <p:cNvSpPr>
            <a:spLocks noGrp="1"/>
          </p:cNvSpPr>
          <p:nvPr>
            <p:ph type="title"/>
          </p:nvPr>
        </p:nvSpPr>
        <p:spPr>
          <a:xfrm>
            <a:off x="2589120" y="609480"/>
            <a:ext cx="8913240" cy="3114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4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30" name="PlaceHolder 2"/>
          <p:cNvSpPr>
            <a:spLocks noGrp="1"/>
          </p:cNvSpPr>
          <p:nvPr>
            <p:ph type="body"/>
          </p:nvPr>
        </p:nvSpPr>
        <p:spPr>
          <a:xfrm>
            <a:off x="2589120" y="4354200"/>
            <a:ext cx="8913240" cy="155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31" name="PlaceHolder 3"/>
          <p:cNvSpPr>
            <a:spLocks noGrp="1"/>
          </p:cNvSpPr>
          <p:nvPr>
            <p:ph type="dt" idx="28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2" name="PlaceHolder 4"/>
          <p:cNvSpPr>
            <a:spLocks noGrp="1"/>
          </p:cNvSpPr>
          <p:nvPr>
            <p:ph type="ftr" idx="29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33" name="Freeform 11"/>
          <p:cNvSpPr/>
          <p:nvPr/>
        </p:nvSpPr>
        <p:spPr>
          <a:xfrm flipV="1">
            <a:off x="-2160" y="3175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34" name="PlaceHolder 5"/>
          <p:cNvSpPr>
            <a:spLocks noGrp="1"/>
          </p:cNvSpPr>
          <p:nvPr>
            <p:ph type="sldNum" idx="30"/>
          </p:nvPr>
        </p:nvSpPr>
        <p:spPr>
          <a:xfrm>
            <a:off x="531720" y="324396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DD20B00-98E9-4CFD-A34B-970306457A43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ita con descripción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5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336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7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8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39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0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1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2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3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4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5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6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47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48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349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0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1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2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3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4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5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6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7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8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59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60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61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2" name="PlaceHolder 1"/>
          <p:cNvSpPr>
            <a:spLocks noGrp="1"/>
          </p:cNvSpPr>
          <p:nvPr>
            <p:ph type="title"/>
          </p:nvPr>
        </p:nvSpPr>
        <p:spPr>
          <a:xfrm>
            <a:off x="2850120" y="609480"/>
            <a:ext cx="8391600" cy="289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4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63" name="PlaceHolder 2"/>
          <p:cNvSpPr>
            <a:spLocks noGrp="1"/>
          </p:cNvSpPr>
          <p:nvPr>
            <p:ph type="body"/>
          </p:nvPr>
        </p:nvSpPr>
        <p:spPr>
          <a:xfrm>
            <a:off x="3274920" y="3505320"/>
            <a:ext cx="7534440" cy="37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>
                    <a:lumMod val="50000"/>
                    <a:lumOff val="50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6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64" name="PlaceHolder 3"/>
          <p:cNvSpPr>
            <a:spLocks noGrp="1"/>
          </p:cNvSpPr>
          <p:nvPr>
            <p:ph type="body"/>
          </p:nvPr>
        </p:nvSpPr>
        <p:spPr>
          <a:xfrm>
            <a:off x="2589120" y="4354200"/>
            <a:ext cx="8913240" cy="1553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65" name="PlaceHolder 4"/>
          <p:cNvSpPr>
            <a:spLocks noGrp="1"/>
          </p:cNvSpPr>
          <p:nvPr>
            <p:ph type="dt" idx="31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6" name="PlaceHolder 5"/>
          <p:cNvSpPr>
            <a:spLocks noGrp="1"/>
          </p:cNvSpPr>
          <p:nvPr>
            <p:ph type="ftr" idx="32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7" name="Freeform 11"/>
          <p:cNvSpPr/>
          <p:nvPr/>
        </p:nvSpPr>
        <p:spPr>
          <a:xfrm flipV="1">
            <a:off x="-2160" y="3175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68" name="PlaceHolder 6"/>
          <p:cNvSpPr>
            <a:spLocks noGrp="1"/>
          </p:cNvSpPr>
          <p:nvPr>
            <p:ph type="sldNum" idx="33"/>
          </p:nvPr>
        </p:nvSpPr>
        <p:spPr>
          <a:xfrm>
            <a:off x="531720" y="324396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272E6C0B-3125-429E-A2A6-63A1144ED0F9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9" name="TextBox 13"/>
          <p:cNvSpPr/>
          <p:nvPr/>
        </p:nvSpPr>
        <p:spPr>
          <a:xfrm>
            <a:off x="2467800" y="648000"/>
            <a:ext cx="6073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“</a:t>
            </a:r>
            <a:endParaRPr lang="es-E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0" name="TextBox 14"/>
          <p:cNvSpPr/>
          <p:nvPr/>
        </p:nvSpPr>
        <p:spPr>
          <a:xfrm>
            <a:off x="11115000" y="2905200"/>
            <a:ext cx="6073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”</a:t>
            </a:r>
            <a:endParaRPr lang="es-E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arjeta de nombre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1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372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3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4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5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6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7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8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9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0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1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2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3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384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385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6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7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8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89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0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1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2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3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4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5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96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7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1"/>
          <p:cNvSpPr>
            <a:spLocks noGrp="1"/>
          </p:cNvSpPr>
          <p:nvPr>
            <p:ph type="title"/>
          </p:nvPr>
        </p:nvSpPr>
        <p:spPr>
          <a:xfrm>
            <a:off x="2589120" y="2438280"/>
            <a:ext cx="8913240" cy="272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4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399" name="PlaceHolder 2"/>
          <p:cNvSpPr>
            <a:spLocks noGrp="1"/>
          </p:cNvSpPr>
          <p:nvPr>
            <p:ph type="body"/>
          </p:nvPr>
        </p:nvSpPr>
        <p:spPr>
          <a:xfrm>
            <a:off x="2589120" y="5181480"/>
            <a:ext cx="8913240" cy="72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00" name="PlaceHolder 3"/>
          <p:cNvSpPr>
            <a:spLocks noGrp="1"/>
          </p:cNvSpPr>
          <p:nvPr>
            <p:ph type="dt" idx="34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1" name="PlaceHolder 4"/>
          <p:cNvSpPr>
            <a:spLocks noGrp="1"/>
          </p:cNvSpPr>
          <p:nvPr>
            <p:ph type="ftr" idx="35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02" name="Freeform 11"/>
          <p:cNvSpPr/>
          <p:nvPr/>
        </p:nvSpPr>
        <p:spPr>
          <a:xfrm flipV="1">
            <a:off x="-2160" y="490968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03" name="PlaceHolder 5"/>
          <p:cNvSpPr>
            <a:spLocks noGrp="1"/>
          </p:cNvSpPr>
          <p:nvPr>
            <p:ph type="sldNum" idx="36"/>
          </p:nvPr>
        </p:nvSpPr>
        <p:spPr>
          <a:xfrm>
            <a:off x="531720" y="498312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8BB76F6C-AF2B-4141-A2C1-6CB8BD156CC2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itar la tarjeta de nombre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405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6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7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8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09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0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1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2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3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4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5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6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17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418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19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0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1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2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3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4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5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6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7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8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29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30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1" name="PlaceHolder 1"/>
          <p:cNvSpPr>
            <a:spLocks noGrp="1"/>
          </p:cNvSpPr>
          <p:nvPr>
            <p:ph type="title"/>
          </p:nvPr>
        </p:nvSpPr>
        <p:spPr>
          <a:xfrm>
            <a:off x="2850120" y="609480"/>
            <a:ext cx="8391600" cy="2893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4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32" name="PlaceHolder 2"/>
          <p:cNvSpPr>
            <a:spLocks noGrp="1"/>
          </p:cNvSpPr>
          <p:nvPr>
            <p:ph type="body"/>
          </p:nvPr>
        </p:nvSpPr>
        <p:spPr>
          <a:xfrm>
            <a:off x="2589120" y="4343400"/>
            <a:ext cx="8913240" cy="83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33" name="PlaceHolder 3"/>
          <p:cNvSpPr>
            <a:spLocks noGrp="1"/>
          </p:cNvSpPr>
          <p:nvPr>
            <p:ph type="body"/>
          </p:nvPr>
        </p:nvSpPr>
        <p:spPr>
          <a:xfrm>
            <a:off x="2589120" y="5181480"/>
            <a:ext cx="8913240" cy="72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34" name="PlaceHolder 4"/>
          <p:cNvSpPr>
            <a:spLocks noGrp="1"/>
          </p:cNvSpPr>
          <p:nvPr>
            <p:ph type="dt" idx="37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5" name="PlaceHolder 5"/>
          <p:cNvSpPr>
            <a:spLocks noGrp="1"/>
          </p:cNvSpPr>
          <p:nvPr>
            <p:ph type="ftr" idx="38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6" name="Freeform 11"/>
          <p:cNvSpPr/>
          <p:nvPr/>
        </p:nvSpPr>
        <p:spPr>
          <a:xfrm flipV="1">
            <a:off x="-2160" y="490968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37" name="PlaceHolder 6"/>
          <p:cNvSpPr>
            <a:spLocks noGrp="1"/>
          </p:cNvSpPr>
          <p:nvPr>
            <p:ph type="sldNum" idx="39"/>
          </p:nvPr>
        </p:nvSpPr>
        <p:spPr>
          <a:xfrm>
            <a:off x="531720" y="498312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FDA8DB6D-0A65-46AB-BBFE-DD90546E6069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8" name="TextBox 16"/>
          <p:cNvSpPr/>
          <p:nvPr/>
        </p:nvSpPr>
        <p:spPr>
          <a:xfrm>
            <a:off x="2467800" y="648000"/>
            <a:ext cx="6073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“</a:t>
            </a:r>
            <a:endParaRPr lang="es-E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9" name="TextBox 17"/>
          <p:cNvSpPr/>
          <p:nvPr/>
        </p:nvSpPr>
        <p:spPr>
          <a:xfrm>
            <a:off x="11115000" y="2905200"/>
            <a:ext cx="607320" cy="58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defTabSz="457200">
              <a:lnSpc>
                <a:spcPct val="100000"/>
              </a:lnSpc>
            </a:pPr>
            <a:r>
              <a:rPr lang="en-US" sz="8000" b="0" u="none" strike="noStrike">
                <a:solidFill>
                  <a:schemeClr val="accent1"/>
                </a:solidFill>
                <a:effectLst/>
                <a:uFillTx/>
                <a:latin typeface="Arial"/>
              </a:rPr>
              <a:t>”</a:t>
            </a:r>
            <a:endParaRPr lang="es-ES" sz="8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Verdadero o falso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0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441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2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3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4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5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6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7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8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49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0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1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2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53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454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5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6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7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8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59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0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1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2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3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4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65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466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2589120" y="627480"/>
            <a:ext cx="8913240" cy="2877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rm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48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48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68" name="PlaceHolder 2"/>
          <p:cNvSpPr>
            <a:spLocks noGrp="1"/>
          </p:cNvSpPr>
          <p:nvPr>
            <p:ph type="body"/>
          </p:nvPr>
        </p:nvSpPr>
        <p:spPr>
          <a:xfrm>
            <a:off x="2589120" y="4343400"/>
            <a:ext cx="8913240" cy="8359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2400" b="0" u="none" strike="noStrike">
                <a:solidFill>
                  <a:schemeClr val="accent1"/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2400" b="0" u="none" strike="noStrike">
                <a:solidFill>
                  <a:schemeClr val="accent1"/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24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69" name="PlaceHolder 3"/>
          <p:cNvSpPr>
            <a:spLocks noGrp="1"/>
          </p:cNvSpPr>
          <p:nvPr>
            <p:ph type="body"/>
          </p:nvPr>
        </p:nvSpPr>
        <p:spPr>
          <a:xfrm>
            <a:off x="2589120" y="5181480"/>
            <a:ext cx="8913240" cy="72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lstStyle>
            <a:lvl1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  <a:def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470" name="PlaceHolder 4"/>
          <p:cNvSpPr>
            <a:spLocks noGrp="1"/>
          </p:cNvSpPr>
          <p:nvPr>
            <p:ph type="dt" idx="40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1" name="PlaceHolder 5"/>
          <p:cNvSpPr>
            <a:spLocks noGrp="1"/>
          </p:cNvSpPr>
          <p:nvPr>
            <p:ph type="ftr" idx="41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2" name="Freeform 11"/>
          <p:cNvSpPr/>
          <p:nvPr/>
        </p:nvSpPr>
        <p:spPr>
          <a:xfrm flipV="1">
            <a:off x="-2160" y="490968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473" name="PlaceHolder 6"/>
          <p:cNvSpPr>
            <a:spLocks noGrp="1"/>
          </p:cNvSpPr>
          <p:nvPr>
            <p:ph type="sldNum" idx="42"/>
          </p:nvPr>
        </p:nvSpPr>
        <p:spPr>
          <a:xfrm>
            <a:off x="531720" y="498312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27E36DF-528C-455C-BF94-5239B72C42D3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ítulo y texto vertical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4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475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6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7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8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79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0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1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2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3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4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5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6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487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488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89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0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1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2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3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4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5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6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7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8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499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00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1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09640" cy="127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02" name="PlaceHolder 2"/>
          <p:cNvSpPr>
            <a:spLocks noGrp="1"/>
          </p:cNvSpPr>
          <p:nvPr>
            <p:ph type="body"/>
          </p:nvPr>
        </p:nvSpPr>
        <p:spPr>
          <a:xfrm>
            <a:off x="2589120" y="2133720"/>
            <a:ext cx="8913240" cy="38840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03" name="PlaceHolder 3"/>
          <p:cNvSpPr>
            <a:spLocks noGrp="1"/>
          </p:cNvSpPr>
          <p:nvPr>
            <p:ph type="dt" idx="43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4" name="PlaceHolder 4"/>
          <p:cNvSpPr>
            <a:spLocks noGrp="1"/>
          </p:cNvSpPr>
          <p:nvPr>
            <p:ph type="ftr" idx="44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05" name="Freeform 11"/>
          <p:cNvSpPr/>
          <p:nvPr/>
        </p:nvSpPr>
        <p:spPr>
          <a:xfrm flipV="1">
            <a:off x="-2160" y="709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06" name="PlaceHolder 5"/>
          <p:cNvSpPr>
            <a:spLocks noGrp="1"/>
          </p:cNvSpPr>
          <p:nvPr>
            <p:ph type="sldNum" idx="45"/>
          </p:nvPr>
        </p:nvSpPr>
        <p:spPr>
          <a:xfrm>
            <a:off x="531720" y="78768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0E395E8B-78D5-4301-B4A8-50F35A84956A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Título vertical y texto">
    <p:bg>
      <p:bgPr>
        <a:gradFill rotWithShape="0">
          <a:gsLst>
            <a:gs pos="0">
              <a:srgbClr val="FFFFFF"/>
            </a:gs>
            <a:gs pos="100000">
              <a:srgbClr val="DFE7C4"/>
            </a:gs>
          </a:gsLst>
          <a:path path="circle">
            <a:fillToRect l="25000" t="25000" r="75000" b="75000"/>
          </a:path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7" name="Group 22"/>
          <p:cNvGrpSpPr/>
          <p:nvPr/>
        </p:nvGrpSpPr>
        <p:grpSpPr>
          <a:xfrm>
            <a:off x="0" y="228600"/>
            <a:ext cx="2849400" cy="6636600"/>
            <a:chOff x="0" y="228600"/>
            <a:chExt cx="2849400" cy="6636600"/>
          </a:xfrm>
        </p:grpSpPr>
        <p:sp>
          <p:nvSpPr>
            <p:cNvPr id="508" name="Freeform 11"/>
            <p:cNvSpPr/>
            <p:nvPr/>
          </p:nvSpPr>
          <p:spPr>
            <a:xfrm>
              <a:off x="0" y="2575080"/>
              <a:ext cx="98640" cy="623880"/>
            </a:xfrm>
            <a:custGeom>
              <a:avLst/>
              <a:gdLst>
                <a:gd name="textAreaLeft" fmla="*/ 0 w 98640"/>
                <a:gd name="textAreaRight" fmla="*/ 100800 w 98640"/>
                <a:gd name="textAreaTop" fmla="*/ 0 h 623880"/>
                <a:gd name="textAreaBottom" fmla="*/ 626040 h 623880"/>
              </a:gdLst>
              <a:ahLst/>
              <a:cxnLst/>
              <a:rect l="textAreaLeft" t="textAreaTop" r="textAreaRight" b="textAreaBottom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9320" tIns="45000" rIns="49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09" name="Freeform 12"/>
            <p:cNvSpPr/>
            <p:nvPr/>
          </p:nvSpPr>
          <p:spPr>
            <a:xfrm>
              <a:off x="128520" y="3156480"/>
              <a:ext cx="644400" cy="2320200"/>
            </a:xfrm>
            <a:custGeom>
              <a:avLst/>
              <a:gdLst>
                <a:gd name="textAreaLeft" fmla="*/ 0 w 644400"/>
                <a:gd name="textAreaRight" fmla="*/ 646560 w 644400"/>
                <a:gd name="textAreaTop" fmla="*/ 0 h 2320200"/>
                <a:gd name="textAreaBottom" fmla="*/ 2322360 h 2320200"/>
              </a:gdLst>
              <a:ahLst/>
              <a:cxnLst/>
              <a:rect l="textAreaLeft" t="textAreaTop" r="textAreaRight" b="textAreaBottom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0" name="Freeform 13"/>
            <p:cNvSpPr/>
            <p:nvPr/>
          </p:nvSpPr>
          <p:spPr>
            <a:xfrm>
              <a:off x="807120" y="5447160"/>
              <a:ext cx="607320" cy="1418040"/>
            </a:xfrm>
            <a:custGeom>
              <a:avLst/>
              <a:gdLst>
                <a:gd name="textAreaLeft" fmla="*/ 0 w 607320"/>
                <a:gd name="textAreaRight" fmla="*/ 609480 w 607320"/>
                <a:gd name="textAreaTop" fmla="*/ 0 h 1418040"/>
                <a:gd name="textAreaBottom" fmla="*/ 1420200 h 1418040"/>
              </a:gdLst>
              <a:ahLst/>
              <a:cxnLst/>
              <a:rect l="textAreaLeft" t="textAreaTop" r="textAreaRight" b="textAreaBottom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1" name="Freeform 14"/>
            <p:cNvSpPr/>
            <p:nvPr/>
          </p:nvSpPr>
          <p:spPr>
            <a:xfrm>
              <a:off x="959760" y="6503760"/>
              <a:ext cx="169200" cy="361440"/>
            </a:xfrm>
            <a:custGeom>
              <a:avLst/>
              <a:gdLst>
                <a:gd name="textAreaLeft" fmla="*/ 0 w 169200"/>
                <a:gd name="textAreaRight" fmla="*/ 171360 w 169200"/>
                <a:gd name="textAreaTop" fmla="*/ 0 h 361440"/>
                <a:gd name="textAreaBottom" fmla="*/ 363600 h 361440"/>
              </a:gdLst>
              <a:ahLst/>
              <a:cxnLst/>
              <a:rect l="textAreaLeft" t="textAreaTop" r="textAreaRight" b="textAreaBottom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4600" tIns="45000" rIns="846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2" name="Freeform 15"/>
            <p:cNvSpPr/>
            <p:nvPr/>
          </p:nvSpPr>
          <p:spPr>
            <a:xfrm>
              <a:off x="100800" y="3201120"/>
              <a:ext cx="819720" cy="3326400"/>
            </a:xfrm>
            <a:custGeom>
              <a:avLst/>
              <a:gdLst>
                <a:gd name="textAreaLeft" fmla="*/ 0 w 819720"/>
                <a:gd name="textAreaRight" fmla="*/ 821880 w 819720"/>
                <a:gd name="textAreaTop" fmla="*/ 0 h 3326400"/>
                <a:gd name="textAreaBottom" fmla="*/ 3328560 h 3326400"/>
              </a:gdLst>
              <a:ahLst/>
              <a:cxnLst/>
              <a:rect l="textAreaLeft" t="textAreaTop" r="textAreaRight" b="textAreaBottom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3" name="Freeform 16"/>
            <p:cNvSpPr/>
            <p:nvPr/>
          </p:nvSpPr>
          <p:spPr>
            <a:xfrm>
              <a:off x="22320" y="228600"/>
              <a:ext cx="104040" cy="2925720"/>
            </a:xfrm>
            <a:custGeom>
              <a:avLst/>
              <a:gdLst>
                <a:gd name="textAreaLeft" fmla="*/ 0 w 104040"/>
                <a:gd name="textAreaRight" fmla="*/ 106200 w 104040"/>
                <a:gd name="textAreaTop" fmla="*/ 0 h 2925720"/>
                <a:gd name="textAreaBottom" fmla="*/ 2927880 h 2925720"/>
              </a:gdLst>
              <a:ahLst/>
              <a:cxnLst/>
              <a:rect l="textAreaLeft" t="textAreaTop" r="textAreaRight" b="textAreaBottom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2200" tIns="45000" rIns="522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4" name="Freeform 17"/>
            <p:cNvSpPr/>
            <p:nvPr/>
          </p:nvSpPr>
          <p:spPr>
            <a:xfrm>
              <a:off x="78120" y="2944080"/>
              <a:ext cx="75960" cy="491760"/>
            </a:xfrm>
            <a:custGeom>
              <a:avLst/>
              <a:gdLst>
                <a:gd name="textAreaLeft" fmla="*/ 0 w 75960"/>
                <a:gd name="textAreaRight" fmla="*/ 78120 w 75960"/>
                <a:gd name="textAreaTop" fmla="*/ 0 h 491760"/>
                <a:gd name="textAreaBottom" fmla="*/ 493920 h 49176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38160" tIns="45000" rIns="3816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5" name="Freeform 18"/>
            <p:cNvSpPr/>
            <p:nvPr/>
          </p:nvSpPr>
          <p:spPr>
            <a:xfrm>
              <a:off x="769680" y="5478840"/>
              <a:ext cx="187920" cy="1022760"/>
            </a:xfrm>
            <a:custGeom>
              <a:avLst/>
              <a:gdLst>
                <a:gd name="textAreaLeft" fmla="*/ 0 w 187920"/>
                <a:gd name="textAreaRight" fmla="*/ 190080 w 187920"/>
                <a:gd name="textAreaTop" fmla="*/ 0 h 1022760"/>
                <a:gd name="textAreaBottom" fmla="*/ 1024920 h 1022760"/>
              </a:gdLst>
              <a:ahLst/>
              <a:cxnLst/>
              <a:rect l="textAreaLeft" t="textAreaTop" r="textAreaRight" b="textAreaBottom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6" name="Freeform 19"/>
            <p:cNvSpPr/>
            <p:nvPr/>
          </p:nvSpPr>
          <p:spPr>
            <a:xfrm>
              <a:off x="775440" y="1398960"/>
              <a:ext cx="2073960" cy="4046040"/>
            </a:xfrm>
            <a:custGeom>
              <a:avLst/>
              <a:gdLst>
                <a:gd name="textAreaLeft" fmla="*/ 0 w 2073960"/>
                <a:gd name="textAreaRight" fmla="*/ 2076120 w 2073960"/>
                <a:gd name="textAreaTop" fmla="*/ 0 h 4046040"/>
                <a:gd name="textAreaBottom" fmla="*/ 4048200 h 4046040"/>
              </a:gdLst>
              <a:ahLst/>
              <a:cxnLst/>
              <a:rect l="textAreaLeft" t="textAreaTop" r="textAreaRight" b="textAreaBottom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7" name="Freeform 20"/>
            <p:cNvSpPr/>
            <p:nvPr/>
          </p:nvSpPr>
          <p:spPr>
            <a:xfrm>
              <a:off x="922680" y="6530040"/>
              <a:ext cx="159840" cy="335160"/>
            </a:xfrm>
            <a:custGeom>
              <a:avLst/>
              <a:gdLst>
                <a:gd name="textAreaLeft" fmla="*/ 0 w 159840"/>
                <a:gd name="textAreaRight" fmla="*/ 162000 w 159840"/>
                <a:gd name="textAreaTop" fmla="*/ 0 h 335160"/>
                <a:gd name="textAreaBottom" fmla="*/ 337320 h 335160"/>
              </a:gdLst>
              <a:ahLst/>
              <a:cxnLst/>
              <a:rect l="textAreaLeft" t="textAreaTop" r="textAreaRight" b="textAreaBottom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79920" tIns="45000" rIns="799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8" name="Freeform 21"/>
            <p:cNvSpPr/>
            <p:nvPr/>
          </p:nvSpPr>
          <p:spPr>
            <a:xfrm>
              <a:off x="769680" y="5359320"/>
              <a:ext cx="35280" cy="219600"/>
            </a:xfrm>
            <a:custGeom>
              <a:avLst/>
              <a:gdLst>
                <a:gd name="textAreaLeft" fmla="*/ 0 w 35280"/>
                <a:gd name="textAreaRight" fmla="*/ 37440 w 35280"/>
                <a:gd name="textAreaTop" fmla="*/ 0 h 219600"/>
                <a:gd name="textAreaBottom" fmla="*/ 221760 h 21960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7640" tIns="45000" rIns="176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19" name="Freeform 22"/>
            <p:cNvSpPr/>
            <p:nvPr/>
          </p:nvSpPr>
          <p:spPr>
            <a:xfrm>
              <a:off x="849960" y="6244560"/>
              <a:ext cx="236520" cy="620280"/>
            </a:xfrm>
            <a:custGeom>
              <a:avLst/>
              <a:gdLst>
                <a:gd name="textAreaLeft" fmla="*/ 0 w 236520"/>
                <a:gd name="textAreaRight" fmla="*/ 238680 w 236520"/>
                <a:gd name="textAreaTop" fmla="*/ 0 h 620280"/>
                <a:gd name="textAreaBottom" fmla="*/ 622440 h 620280"/>
              </a:gdLst>
              <a:ahLst/>
              <a:cxnLst/>
              <a:rect l="textAreaLeft" t="textAreaTop" r="textAreaRight" b="textAreaBottom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dk2">
                <a:alpha val="20000"/>
              </a:scheme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520" name="Group 9"/>
          <p:cNvGrpSpPr/>
          <p:nvPr/>
        </p:nvGrpSpPr>
        <p:grpSpPr>
          <a:xfrm>
            <a:off x="27360" y="-720"/>
            <a:ext cx="2354400" cy="6851880"/>
            <a:chOff x="27360" y="-720"/>
            <a:chExt cx="2354400" cy="6851880"/>
          </a:xfrm>
        </p:grpSpPr>
        <p:sp>
          <p:nvSpPr>
            <p:cNvPr id="521" name="Freeform 27"/>
            <p:cNvSpPr/>
            <p:nvPr/>
          </p:nvSpPr>
          <p:spPr>
            <a:xfrm>
              <a:off x="27360" y="-720"/>
              <a:ext cx="492120" cy="4398840"/>
            </a:xfrm>
            <a:custGeom>
              <a:avLst/>
              <a:gdLst>
                <a:gd name="textAreaLeft" fmla="*/ 0 w 492120"/>
                <a:gd name="textAreaRight" fmla="*/ 494280 w 492120"/>
                <a:gd name="textAreaTop" fmla="*/ 0 h 4398840"/>
                <a:gd name="textAreaBottom" fmla="*/ 4401000 h 4398840"/>
              </a:gdLst>
              <a:ahLst/>
              <a:cxnLst/>
              <a:rect l="textAreaLeft" t="textAreaTop" r="textAreaRight" b="textAreaBottom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2" name="Freeform 28"/>
            <p:cNvSpPr/>
            <p:nvPr/>
          </p:nvSpPr>
          <p:spPr>
            <a:xfrm>
              <a:off x="550440" y="4316400"/>
              <a:ext cx="421200" cy="1578600"/>
            </a:xfrm>
            <a:custGeom>
              <a:avLst/>
              <a:gdLst>
                <a:gd name="textAreaLeft" fmla="*/ 0 w 421200"/>
                <a:gd name="textAreaRight" fmla="*/ 423360 w 421200"/>
                <a:gd name="textAreaTop" fmla="*/ 0 h 1578600"/>
                <a:gd name="textAreaBottom" fmla="*/ 1580760 h 1578600"/>
              </a:gdLst>
              <a:ahLst/>
              <a:cxnLst/>
              <a:rect l="textAreaLeft" t="textAreaTop" r="textAreaRight" b="textAreaBottom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3" name="Freeform 29"/>
            <p:cNvSpPr/>
            <p:nvPr/>
          </p:nvSpPr>
          <p:spPr>
            <a:xfrm>
              <a:off x="1006200" y="5862600"/>
              <a:ext cx="428760" cy="988560"/>
            </a:xfrm>
            <a:custGeom>
              <a:avLst/>
              <a:gdLst>
                <a:gd name="textAreaLeft" fmla="*/ 0 w 428760"/>
                <a:gd name="textAreaRight" fmla="*/ 430920 w 428760"/>
                <a:gd name="textAreaTop" fmla="*/ 0 h 988560"/>
                <a:gd name="textAreaBottom" fmla="*/ 990720 h 988560"/>
              </a:gdLst>
              <a:ahLst/>
              <a:cxnLst/>
              <a:rect l="textAreaLeft" t="textAreaTop" r="textAreaRight" b="textAreaBottom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4" name="Freeform 30"/>
            <p:cNvSpPr/>
            <p:nvPr/>
          </p:nvSpPr>
          <p:spPr>
            <a:xfrm>
              <a:off x="521640" y="4364280"/>
              <a:ext cx="549720" cy="2233800"/>
            </a:xfrm>
            <a:custGeom>
              <a:avLst/>
              <a:gdLst>
                <a:gd name="textAreaLeft" fmla="*/ 0 w 549720"/>
                <a:gd name="textAreaRight" fmla="*/ 551880 w 549720"/>
                <a:gd name="textAreaTop" fmla="*/ 0 h 2233800"/>
                <a:gd name="textAreaBottom" fmla="*/ 2235960 h 2233800"/>
              </a:gdLst>
              <a:ahLst/>
              <a:cxnLst/>
              <a:rect l="textAreaLeft" t="textAreaTop" r="textAreaRight" b="textAreaBottom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5" name="Freeform 31"/>
            <p:cNvSpPr/>
            <p:nvPr/>
          </p:nvSpPr>
          <p:spPr>
            <a:xfrm>
              <a:off x="468000" y="1289160"/>
              <a:ext cx="172080" cy="3025080"/>
            </a:xfrm>
            <a:custGeom>
              <a:avLst/>
              <a:gdLst>
                <a:gd name="textAreaLeft" fmla="*/ 0 w 172080"/>
                <a:gd name="textAreaRight" fmla="*/ 174240 w 172080"/>
                <a:gd name="textAreaTop" fmla="*/ 0 h 3025080"/>
                <a:gd name="textAreaBottom" fmla="*/ 3027240 h 3025080"/>
              </a:gdLst>
              <a:ahLst/>
              <a:cxnLst/>
              <a:rect l="textAreaLeft" t="textAreaTop" r="textAreaRight" b="textAreaBottom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86040" tIns="45000" rIns="86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6" name="Freeform 32"/>
            <p:cNvSpPr/>
            <p:nvPr/>
          </p:nvSpPr>
          <p:spPr>
            <a:xfrm>
              <a:off x="1111680" y="6571440"/>
              <a:ext cx="132120" cy="279360"/>
            </a:xfrm>
            <a:custGeom>
              <a:avLst/>
              <a:gdLst>
                <a:gd name="textAreaLeft" fmla="*/ 0 w 132120"/>
                <a:gd name="textAreaRight" fmla="*/ 134280 w 132120"/>
                <a:gd name="textAreaTop" fmla="*/ 0 h 279360"/>
                <a:gd name="textAreaBottom" fmla="*/ 281520 h 279360"/>
              </a:gdLst>
              <a:ahLst/>
              <a:cxnLst/>
              <a:rect l="textAreaLeft" t="textAreaTop" r="textAreaRight" b="textAreaBottom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6240" tIns="45000" rIns="662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7" name="Freeform 33"/>
            <p:cNvSpPr/>
            <p:nvPr/>
          </p:nvSpPr>
          <p:spPr>
            <a:xfrm>
              <a:off x="502560" y="4107600"/>
              <a:ext cx="80280" cy="509400"/>
            </a:xfrm>
            <a:custGeom>
              <a:avLst/>
              <a:gdLst>
                <a:gd name="textAreaLeft" fmla="*/ 0 w 80280"/>
                <a:gd name="textAreaRight" fmla="*/ 82440 w 80280"/>
                <a:gd name="textAreaTop" fmla="*/ 0 h 509400"/>
                <a:gd name="textAreaBottom" fmla="*/ 511560 h 509400"/>
              </a:gdLst>
              <a:ahLst/>
              <a:cxnLst/>
              <a:rect l="textAreaLeft" t="textAreaTop" r="textAreaRight" b="textAreaBottom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40320" tIns="45000" rIns="4032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8" name="Freeform 34"/>
            <p:cNvSpPr/>
            <p:nvPr/>
          </p:nvSpPr>
          <p:spPr>
            <a:xfrm>
              <a:off x="973800" y="3145680"/>
              <a:ext cx="1407960" cy="2714760"/>
            </a:xfrm>
            <a:custGeom>
              <a:avLst/>
              <a:gdLst>
                <a:gd name="textAreaLeft" fmla="*/ 0 w 1407960"/>
                <a:gd name="textAreaRight" fmla="*/ 1410120 w 1407960"/>
                <a:gd name="textAreaTop" fmla="*/ 0 h 2714760"/>
                <a:gd name="textAreaBottom" fmla="*/ 2716920 h 2714760"/>
              </a:gdLst>
              <a:ahLst/>
              <a:cxnLst/>
              <a:rect l="textAreaLeft" t="textAreaTop" r="textAreaRight" b="textAreaBottom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9" name="Freeform 35"/>
            <p:cNvSpPr/>
            <p:nvPr/>
          </p:nvSpPr>
          <p:spPr>
            <a:xfrm>
              <a:off x="1073520" y="6600240"/>
              <a:ext cx="118440" cy="250920"/>
            </a:xfrm>
            <a:custGeom>
              <a:avLst/>
              <a:gdLst>
                <a:gd name="textAreaLeft" fmla="*/ 0 w 118440"/>
                <a:gd name="textAreaRight" fmla="*/ 120600 w 118440"/>
                <a:gd name="textAreaTop" fmla="*/ 0 h 250920"/>
                <a:gd name="textAreaBottom" fmla="*/ 253080 h 250920"/>
              </a:gdLst>
              <a:ahLst/>
              <a:cxnLst/>
              <a:rect l="textAreaLeft" t="textAreaTop" r="textAreaRight" b="textAreaBottom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59400" tIns="45000" rIns="594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0" name="Freeform 36"/>
            <p:cNvSpPr/>
            <p:nvPr/>
          </p:nvSpPr>
          <p:spPr>
            <a:xfrm>
              <a:off x="973800" y="5897160"/>
              <a:ext cx="135720" cy="672120"/>
            </a:xfrm>
            <a:custGeom>
              <a:avLst/>
              <a:gdLst>
                <a:gd name="textAreaLeft" fmla="*/ 0 w 135720"/>
                <a:gd name="textAreaRight" fmla="*/ 137880 w 135720"/>
                <a:gd name="textAreaTop" fmla="*/ 0 h 672120"/>
                <a:gd name="textAreaBottom" fmla="*/ 674280 h 672120"/>
              </a:gdLst>
              <a:ahLst/>
              <a:cxnLst/>
              <a:rect l="textAreaLeft" t="textAreaTop" r="textAreaRight" b="textAreaBottom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68040" tIns="45000" rIns="6804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1" name="Freeform 37"/>
            <p:cNvSpPr/>
            <p:nvPr/>
          </p:nvSpPr>
          <p:spPr>
            <a:xfrm>
              <a:off x="973800" y="5772600"/>
              <a:ext cx="36000" cy="225720"/>
            </a:xfrm>
            <a:custGeom>
              <a:avLst/>
              <a:gdLst>
                <a:gd name="textAreaLeft" fmla="*/ 0 w 36000"/>
                <a:gd name="textAreaRight" fmla="*/ 38160 w 36000"/>
                <a:gd name="textAreaTop" fmla="*/ 0 h 225720"/>
                <a:gd name="textAreaBottom" fmla="*/ 227880 h 225720"/>
              </a:gdLst>
              <a:ahLst/>
              <a:cxnLst/>
              <a:rect l="textAreaLeft" t="textAreaTop" r="textAreaRight" b="textAreaBottom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18000" tIns="45000" rIns="18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32" name="Freeform 38"/>
            <p:cNvSpPr/>
            <p:nvPr/>
          </p:nvSpPr>
          <p:spPr>
            <a:xfrm>
              <a:off x="1006200" y="6322680"/>
              <a:ext cx="208440" cy="528480"/>
            </a:xfrm>
            <a:custGeom>
              <a:avLst/>
              <a:gdLst>
                <a:gd name="textAreaLeft" fmla="*/ 0 w 208440"/>
                <a:gd name="textAreaRight" fmla="*/ 210600 w 208440"/>
                <a:gd name="textAreaTop" fmla="*/ 0 h 528480"/>
                <a:gd name="textAreaBottom" fmla="*/ 530640 h 528480"/>
              </a:gdLst>
              <a:ahLst/>
              <a:cxnLst/>
              <a:rect l="textAreaLeft" t="textAreaTop" r="textAreaRight" b="textAreaBottom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tIns="45000" rIns="90000" bIns="45000" anchor="t">
              <a:noAutofit/>
            </a:bodyPr>
            <a:p>
              <a:endParaRPr lang="es-ES" sz="1800" b="0" u="none" strike="noStrike">
                <a:solidFill>
                  <a:srgbClr val="FFFFFF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33" name="Rectangle 6"/>
          <p:cNvSpPr/>
          <p:nvPr/>
        </p:nvSpPr>
        <p:spPr>
          <a:xfrm>
            <a:off x="0" y="0"/>
            <a:ext cx="180720" cy="6855840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outerShdw blurRad="38160" dir="5400000" dist="25560" rotWithShape="0">
              <a:srgbClr val="000000">
                <a:alpha val="2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4" name="PlaceHolder 1"/>
          <p:cNvSpPr>
            <a:spLocks noGrp="1"/>
          </p:cNvSpPr>
          <p:nvPr>
            <p:ph type="title"/>
          </p:nvPr>
        </p:nvSpPr>
        <p:spPr>
          <a:xfrm>
            <a:off x="9294840" y="627480"/>
            <a:ext cx="2205360" cy="528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l" defTabSz="457200">
              <a:lnSpc>
                <a:spcPct val="100000"/>
              </a:lnSpc>
              <a:buNone/>
              <a:tabLst>
                <a:tab pos="0" algn="l"/>
              </a:tabLst>
              <a:def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Haga clic para modificar el estilo de título del patrón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35" name="PlaceHolder 2"/>
          <p:cNvSpPr>
            <a:spLocks noGrp="1"/>
          </p:cNvSpPr>
          <p:nvPr>
            <p:ph type="body"/>
          </p:nvPr>
        </p:nvSpPr>
        <p:spPr>
          <a:xfrm>
            <a:off x="2589120" y="627480"/>
            <a:ext cx="6474960" cy="5281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1pPr>
            <a:lvl2pPr lvl="1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2pPr>
            <a:lvl3pPr lvl="2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3pPr>
            <a:lvl4pPr lvl="3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4pPr>
            <a:lvl5pPr lvl="4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  <a:def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defRPr>
            </a:lvl5pPr>
          </a:lstStyle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Haga clic para modificar los estilos de texto del patrón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Segundo nivel</a:t>
            </a:r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143000" lvl="2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4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Tercer nivel</a:t>
            </a:r>
            <a:endParaRPr lang="es-ES" sz="14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1600200" lvl="3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Cuarto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2057400" lvl="4" indent="-22860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2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Quinto nivel</a:t>
            </a:r>
            <a:endParaRPr lang="es-ES" sz="12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36" name="PlaceHolder 3"/>
          <p:cNvSpPr>
            <a:spLocks noGrp="1"/>
          </p:cNvSpPr>
          <p:nvPr>
            <p:ph type="dt" idx="46"/>
          </p:nvPr>
        </p:nvSpPr>
        <p:spPr>
          <a:xfrm>
            <a:off x="10361520" y="6130440"/>
            <a:ext cx="1144080" cy="368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9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entury Gothic"/>
              </a:rPr>
              <a:t>&lt;fecha/hora&gt;</a:t>
            </a:r>
            <a:endParaRPr lang="es-ES" sz="9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7" name="PlaceHolder 4"/>
          <p:cNvSpPr>
            <a:spLocks noGrp="1"/>
          </p:cNvSpPr>
          <p:nvPr>
            <p:ph type="ftr" idx="47"/>
          </p:nvPr>
        </p:nvSpPr>
        <p:spPr>
          <a:xfrm>
            <a:off x="2589120" y="6135840"/>
            <a:ext cx="761796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pos="0" algn="l"/>
              </a:tabLst>
              <a:def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&lt;pie de página&gt;</a:t>
            </a:r>
            <a:endParaRPr lang="es-E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8" name="Freeform 11"/>
          <p:cNvSpPr/>
          <p:nvPr/>
        </p:nvSpPr>
        <p:spPr>
          <a:xfrm flipV="1">
            <a:off x="-2160" y="709920"/>
            <a:ext cx="1586520" cy="505080"/>
          </a:xfrm>
          <a:custGeom>
            <a:avLst/>
            <a:gdLst>
              <a:gd name="textAreaLeft" fmla="*/ 0 w 1586520"/>
              <a:gd name="textAreaRight" fmla="*/ 1588680 w 1586520"/>
              <a:gd name="textAreaTop" fmla="*/ 1080 h 505080"/>
              <a:gd name="textAreaBottom" fmla="*/ 508320 h 505080"/>
            </a:gdLst>
            <a:ahLst/>
            <a:cxnLst/>
            <a:rect l="textAreaLeft" t="textAreaTop" r="textAreaRight" b="textAreaBottom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Autofit/>
          </a:bodyPr>
          <a:p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39" name="PlaceHolder 5"/>
          <p:cNvSpPr>
            <a:spLocks noGrp="1"/>
          </p:cNvSpPr>
          <p:nvPr>
            <p:ph type="sldNum" idx="48"/>
          </p:nvPr>
        </p:nvSpPr>
        <p:spPr>
          <a:xfrm>
            <a:off x="531720" y="787680"/>
            <a:ext cx="777600" cy="36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tabLst>
                <a:tab pos="0" algn="l"/>
              </a:tabLst>
              <a:def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  <a:tabLst>
                <a:tab pos="0" algn="l"/>
              </a:tabLst>
            </a:pPr>
            <a:fld id="{6D649A83-FE2B-4387-8381-E33F35CC2615}" type="slidenum">
              <a:rPr lang="es-ES" sz="2000" b="0" u="none" strike="noStrike">
                <a:solidFill>
                  <a:srgbClr val="FEFFFF"/>
                </a:solidFill>
                <a:effectLst/>
                <a:uFillTx/>
                <a:latin typeface="Century Gothic"/>
              </a:rPr>
              <a:t>&lt;número&gt;</a:t>
            </a:fld>
            <a:endParaRPr lang="es-ES" sz="20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hyperlink" Target="https://www.kaggle.com/datasets/grandmaster07/student-exam-performance-dataset-analysi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image" Target="../media/image10.png"/><Relationship Id="rId3" Type="http://schemas.openxmlformats.org/officeDocument/2006/relationships/image" Target="../media/image11.png"/><Relationship Id="rId4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PlaceHolder 1"/>
          <p:cNvSpPr>
            <a:spLocks noGrp="1"/>
          </p:cNvSpPr>
          <p:nvPr>
            <p:ph type="title"/>
          </p:nvPr>
        </p:nvSpPr>
        <p:spPr>
          <a:xfrm>
            <a:off x="2589120" y="2514600"/>
            <a:ext cx="8913240" cy="226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54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Proyecto EDA – Notas de exámenes</a:t>
            </a:r>
            <a:endParaRPr lang="es-ES" sz="54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47" name="PlaceHolder 2"/>
          <p:cNvSpPr>
            <a:spLocks noGrp="1"/>
          </p:cNvSpPr>
          <p:nvPr>
            <p:ph type="subTitle"/>
          </p:nvPr>
        </p:nvSpPr>
        <p:spPr>
          <a:xfrm>
            <a:off x="2589120" y="5486400"/>
            <a:ext cx="8913240" cy="415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Hector Yustos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09640" cy="127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Hipótesis planteadas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49" name="PlaceHolder 2"/>
          <p:cNvSpPr>
            <a:spLocks noGrp="1"/>
          </p:cNvSpPr>
          <p:nvPr>
            <p:ph/>
          </p:nvPr>
        </p:nvSpPr>
        <p:spPr>
          <a:xfrm>
            <a:off x="2589120" y="2133720"/>
            <a:ext cx="8913240" cy="109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Principal:</a:t>
            </a:r>
            <a:endParaRPr lang="es-ES" sz="25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“Los estudiantes con una buena organización de estudio tienen más probabilidades de sacar mejor nota”</a:t>
            </a:r>
            <a:endParaRPr lang="es-ES" sz="25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50" name="Marcador de contenido 2"/>
          <p:cNvSpPr/>
          <p:nvPr/>
        </p:nvSpPr>
        <p:spPr>
          <a:xfrm>
            <a:off x="2580840" y="4399920"/>
            <a:ext cx="8913240" cy="147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Subhipótesis: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“La importancia de la motivación de un estudiante a la hora de la nota final”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7" dur="800"/>
                                        <p:tgtEl>
                                          <p:spTgt spid="5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8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10" dur="800"/>
                                        <p:tgtEl>
                                          <p:spTgt spid="5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8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15" dur="2000"/>
                                        <p:tgtEl>
                                          <p:spTgt spid="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09640" cy="127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Consideraciones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52" name="PlaceHolder 2"/>
          <p:cNvSpPr>
            <a:spLocks noGrp="1"/>
          </p:cNvSpPr>
          <p:nvPr>
            <p:ph/>
          </p:nvPr>
        </p:nvSpPr>
        <p:spPr>
          <a:xfrm>
            <a:off x="2593080" y="1751040"/>
            <a:ext cx="8913240" cy="766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rmAutofit/>
          </a:bodyPr>
          <a:p>
            <a:pPr marL="343080" indent="-34308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Fuente: </a:t>
            </a:r>
            <a:r>
              <a:rPr lang="es-ES" sz="1800" b="0" u="sng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  <a:hlinkClick r:id="rId1"/>
              </a:rPr>
              <a:t>https://www.kaggle.com/datasets/grandmaster07/student-exam-performance-dataset-analysis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indent="0" algn="l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53" name="Marcador de contenido 2"/>
          <p:cNvSpPr/>
          <p:nvPr/>
        </p:nvSpPr>
        <p:spPr>
          <a:xfrm>
            <a:off x="2589120" y="2518560"/>
            <a:ext cx="8913240" cy="7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Manteniendo la privacidad del estudio y los estudiantes, estos son los datos que se pueden revelar: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57200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4" name="Marcador de contenido 2"/>
          <p:cNvSpPr/>
          <p:nvPr/>
        </p:nvSpPr>
        <p:spPr>
          <a:xfrm>
            <a:off x="2523960" y="3280320"/>
            <a:ext cx="8913240" cy="387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Prestigiosa universidad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5" name="Marcador de contenido 2"/>
          <p:cNvSpPr/>
          <p:nvPr/>
        </p:nvSpPr>
        <p:spPr>
          <a:xfrm>
            <a:off x="2523960" y="3738600"/>
            <a:ext cx="5695560" cy="1111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Estudiantes de una asignatura en particular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6" name="Marcador de contenido 2"/>
          <p:cNvSpPr/>
          <p:nvPr/>
        </p:nvSpPr>
        <p:spPr>
          <a:xfrm>
            <a:off x="2523960" y="5125320"/>
            <a:ext cx="8913240" cy="1327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Evaluación mediante el examen final de la asignatura (variable principal)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457200">
              <a:lnSpc>
                <a:spcPct val="100000"/>
              </a:lnSpc>
              <a:spcBef>
                <a:spcPts val="1001"/>
              </a:spcBef>
            </a:pP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7" name="Marcador de contenido 2"/>
          <p:cNvSpPr/>
          <p:nvPr/>
        </p:nvSpPr>
        <p:spPr>
          <a:xfrm>
            <a:off x="-2252520" y="4363560"/>
            <a:ext cx="8913240" cy="76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58" name="Marcador de contenido 2"/>
          <p:cNvSpPr/>
          <p:nvPr/>
        </p:nvSpPr>
        <p:spPr>
          <a:xfrm>
            <a:off x="2523960" y="4363560"/>
            <a:ext cx="5306040" cy="929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Seguimiento durante todo el cuatrimestre de sus hábitos de estudio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9" name="Marcador de contenido 2"/>
          <p:cNvSpPr/>
          <p:nvPr/>
        </p:nvSpPr>
        <p:spPr>
          <a:xfrm>
            <a:off x="6878880" y="3786120"/>
            <a:ext cx="5246280" cy="623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endParaRPr lang="es-ES" sz="16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60" name=""/>
          <p:cNvSpPr/>
          <p:nvPr/>
        </p:nvSpPr>
        <p:spPr>
          <a:xfrm>
            <a:off x="7975440" y="4410720"/>
            <a:ext cx="1514160" cy="413280"/>
          </a:xfrm>
          <a:prstGeom prst="rightArrow">
            <a:avLst>
              <a:gd name="adj1" fmla="val 50000"/>
              <a:gd name="adj2" fmla="val 91363"/>
            </a:avLst>
          </a:prstGeom>
          <a:solidFill>
            <a:srgbClr val="C9211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1" name="Marcador de contenido 1"/>
          <p:cNvSpPr/>
          <p:nvPr/>
        </p:nvSpPr>
        <p:spPr>
          <a:xfrm>
            <a:off x="9279360" y="4410720"/>
            <a:ext cx="2055960" cy="650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457200" algn="just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20 </a:t>
            </a: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variables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2" name=""/>
          <p:cNvSpPr/>
          <p:nvPr/>
        </p:nvSpPr>
        <p:spPr>
          <a:xfrm>
            <a:off x="7984080" y="3668760"/>
            <a:ext cx="1494720" cy="413280"/>
          </a:xfrm>
          <a:prstGeom prst="rightArrow">
            <a:avLst>
              <a:gd name="adj1" fmla="val 50000"/>
              <a:gd name="adj2" fmla="val 90191"/>
            </a:avLst>
          </a:prstGeom>
          <a:solidFill>
            <a:srgbClr val="C9211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63" name="Marcador de contenido 4"/>
          <p:cNvSpPr/>
          <p:nvPr/>
        </p:nvSpPr>
        <p:spPr>
          <a:xfrm>
            <a:off x="9304920" y="3668760"/>
            <a:ext cx="2191320" cy="60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457200" defTabSz="457200">
              <a:lnSpc>
                <a:spcPct val="100000"/>
              </a:lnSpc>
              <a:spcBef>
                <a:spcPts val="1001"/>
              </a:spcBef>
              <a:tabLst>
                <a:tab pos="0" algn="l"/>
              </a:tabLst>
            </a:pPr>
            <a:r>
              <a:rPr lang="es-ES" sz="16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6.607 alumnos</a:t>
            </a:r>
            <a:endParaRPr lang="es-ES" sz="16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564" name=""/>
          <p:cNvGraphicFramePr/>
          <p:nvPr/>
        </p:nvGraphicFramePr>
        <p:xfrm>
          <a:off x="4219560" y="5716800"/>
          <a:ext cx="5075280" cy="693360"/>
        </p:xfrm>
        <a:graphic>
          <a:graphicData uri="http://schemas.openxmlformats.org/drawingml/2006/table">
            <a:tbl>
              <a:tblPr/>
              <a:tblGrid>
                <a:gridCol w="2537640"/>
                <a:gridCol w="2538000"/>
              </a:tblGrid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Nota Mínima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Nota Máxima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2240">
                      <a:noFill/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</a:tr>
              <a:tr h="346320"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55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108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 lIns="36000" tIns="36000" rIns="36000" bIns="36000" anchor="t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100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t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  <p:timing>
    <p:tnLst>
      <p:par>
        <p:cTn id="16" dur="indefinite" restart="never" nodeType="tmRoot">
          <p:childTnLst>
            <p:seq>
              <p:cTn id="17" dur="indefinite" nodeType="mainSeq">
                <p:childTnLst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8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22" dur="2000"/>
                                        <p:tgtEl>
                                          <p:spTgt spid="5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7" dur="500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8" dur="500" fill="hold"/>
                                        <p:tgtEl>
                                          <p:spTgt spid="5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33" dur="5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4" dur="500" fill="hold"/>
                                        <p:tgtEl>
                                          <p:spTgt spid="5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39" dur="500"/>
                                        <p:tgtEl>
                                          <p:spTgt spid="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" presetClass="entr" fill="hold" nodeType="afterEffect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3" dur="500" fill="hold"/>
                                        <p:tgtEl>
                                          <p:spTgt spid="5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44" dur="500" fill="hold"/>
                                        <p:tgtEl>
                                          <p:spTgt spid="5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49" dur="500" fill="hold"/>
                                        <p:tgtEl>
                                          <p:spTgt spid="5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50" dur="500" fill="hold"/>
                                        <p:tgtEl>
                                          <p:spTgt spid="5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55" dur="500"/>
                                        <p:tgtEl>
                                          <p:spTgt spid="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2" presetClass="entr" fill="hold" nodeType="afterEffect" presetSubtype="4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59" dur="500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0" dur="500" fill="hold"/>
                                        <p:tgtEl>
                                          <p:spTgt spid="5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" presetClass="entr" fill="hold" nodeType="clickEffect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65" dur="500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66" dur="500" fill="hold"/>
                                        <p:tgtEl>
                                          <p:spTgt spid="5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5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71" dur="125"/>
                                        <p:tgtEl>
                                          <p:spTgt spid="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09640" cy="1278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Consideraciones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566" name="Imagen 13"/>
          <p:cNvPicPr/>
          <p:nvPr/>
        </p:nvPicPr>
        <p:blipFill>
          <a:blip r:embed="rId1"/>
          <a:stretch/>
        </p:blipFill>
        <p:spPr>
          <a:xfrm>
            <a:off x="3639960" y="1670040"/>
            <a:ext cx="7187400" cy="4313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67" name="CuadroTexto 14"/>
          <p:cNvSpPr/>
          <p:nvPr/>
        </p:nvSpPr>
        <p:spPr>
          <a:xfrm>
            <a:off x="6270120" y="6190920"/>
            <a:ext cx="22899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Exam Score (0-100)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8" name="CuadroTexto 15"/>
          <p:cNvSpPr/>
          <p:nvPr/>
        </p:nvSpPr>
        <p:spPr>
          <a:xfrm rot="16200000">
            <a:off x="2487240" y="3324600"/>
            <a:ext cx="1106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0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Student quantity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9" name=""/>
          <p:cNvSpPr/>
          <p:nvPr/>
        </p:nvSpPr>
        <p:spPr>
          <a:xfrm>
            <a:off x="8373600" y="1857600"/>
            <a:ext cx="2225880" cy="1105920"/>
          </a:xfrm>
          <a:prstGeom prst="ellipse">
            <a:avLst/>
          </a:prstGeom>
          <a:gradFill rotWithShape="0">
            <a:gsLst>
              <a:gs pos="0">
                <a:srgbClr val="B4C7DC"/>
              </a:gs>
              <a:gs pos="100000">
                <a:srgbClr val="FFD7D7"/>
              </a:gs>
            </a:gsLst>
            <a:path path="rect">
              <a:fillToRect l="50000" t="50000" r="50000" b="50000"/>
            </a:path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Media=67,24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  <p:timing>
    <p:tnLst>
      <p:par>
        <p:cTn id="72" dur="indefinite" restart="never" nodeType="tmRoot">
          <p:childTnLst>
            <p:seq>
              <p:cTn id="73" dur="indefinite" nodeType="mainSeq">
                <p:childTnLst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78" dur="500"/>
                                        <p:tgtEl>
                                          <p:spTgt spid="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500"/>
                            </p:stCondLst>
                            <p:childTnLst>
                              <p:par>
                                <p:cTn id="80" presetID="6" presetClass="entr" fill="hold" nodeType="afterEffect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 additive="repl">
                                        <p:cTn id="82" dur="500"/>
                                        <p:tgtEl>
                                          <p:spTgt spid="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6" presetClass="entr" fill="hold" nodeType="afterEffect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 additive="repl">
                                        <p:cTn id="86" dur="500"/>
                                        <p:tgtEl>
                                          <p:spTgt spid="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 additive="repl">
                                        <p:cTn id="91" dur="2000"/>
                                        <p:tgtEl>
                                          <p:spTgt spid="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8909640" cy="778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Hipótesis principal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71" name="PlaceHolder 2"/>
          <p:cNvSpPr>
            <a:spLocks noGrp="1"/>
          </p:cNvSpPr>
          <p:nvPr>
            <p:ph/>
          </p:nvPr>
        </p:nvSpPr>
        <p:spPr>
          <a:xfrm>
            <a:off x="2601720" y="1898640"/>
            <a:ext cx="8913240" cy="377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“Los estudiantes con una buena organización de estudio tienen más probabilidades de sacar mejor nota”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572" name="CuadroTexto 4"/>
          <p:cNvSpPr/>
          <p:nvPr/>
        </p:nvSpPr>
        <p:spPr>
          <a:xfrm>
            <a:off x="2764800" y="2899080"/>
            <a:ext cx="174276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Hours Studied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3" name="CuadroTexto 5"/>
          <p:cNvSpPr/>
          <p:nvPr/>
        </p:nvSpPr>
        <p:spPr>
          <a:xfrm>
            <a:off x="3157920" y="3672360"/>
            <a:ext cx="1553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Attendance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4" name="CuadroTexto 6"/>
          <p:cNvSpPr/>
          <p:nvPr/>
        </p:nvSpPr>
        <p:spPr>
          <a:xfrm>
            <a:off x="5563800" y="2799000"/>
            <a:ext cx="1553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Parental Involvement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5" name="CuadroTexto 7"/>
          <p:cNvSpPr/>
          <p:nvPr/>
        </p:nvSpPr>
        <p:spPr>
          <a:xfrm>
            <a:off x="8382600" y="2846520"/>
            <a:ext cx="1553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Access to Resources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6" name="CuadroTexto 8"/>
          <p:cNvSpPr/>
          <p:nvPr/>
        </p:nvSpPr>
        <p:spPr>
          <a:xfrm>
            <a:off x="9484200" y="5388120"/>
            <a:ext cx="179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Extracurricular Activities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7" name="CuadroTexto 9"/>
          <p:cNvSpPr/>
          <p:nvPr/>
        </p:nvSpPr>
        <p:spPr>
          <a:xfrm>
            <a:off x="3067560" y="4658760"/>
            <a:ext cx="15530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Sleep Hours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8" name="CuadroTexto 10"/>
          <p:cNvSpPr/>
          <p:nvPr/>
        </p:nvSpPr>
        <p:spPr>
          <a:xfrm>
            <a:off x="5295960" y="4074120"/>
            <a:ext cx="126612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Internet Access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9" name="CuadroTexto 11"/>
          <p:cNvSpPr/>
          <p:nvPr/>
        </p:nvSpPr>
        <p:spPr>
          <a:xfrm>
            <a:off x="5318280" y="5654520"/>
            <a:ext cx="1553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Tutoring Sessions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0" name="CuadroTexto 12"/>
          <p:cNvSpPr/>
          <p:nvPr/>
        </p:nvSpPr>
        <p:spPr>
          <a:xfrm>
            <a:off x="7140960" y="4207320"/>
            <a:ext cx="1356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Teacher Quality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1" name="CuadroTexto 13"/>
          <p:cNvSpPr/>
          <p:nvPr/>
        </p:nvSpPr>
        <p:spPr>
          <a:xfrm>
            <a:off x="3466440" y="5416560"/>
            <a:ext cx="143316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Physical Activity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2" name="CuadroTexto 14"/>
          <p:cNvSpPr/>
          <p:nvPr/>
        </p:nvSpPr>
        <p:spPr>
          <a:xfrm>
            <a:off x="7426440" y="5288040"/>
            <a:ext cx="15530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Learning Disabilities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3" name="CuadroTexto 15"/>
          <p:cNvSpPr/>
          <p:nvPr/>
        </p:nvSpPr>
        <p:spPr>
          <a:xfrm>
            <a:off x="8989200" y="4108680"/>
            <a:ext cx="179388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lang="es-ES" sz="1800" b="1" u="none" strike="noStrike">
                <a:solidFill>
                  <a:schemeClr val="dk1"/>
                </a:solidFill>
                <a:effectLst/>
                <a:uFillTx/>
                <a:latin typeface="Century Gothic"/>
              </a:rPr>
              <a:t>Distance from Home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  <p:timing>
    <p:tnLst>
      <p:par>
        <p:cTn id="92" dur="indefinite" restart="never" nodeType="tmRoot">
          <p:childTnLst>
            <p:seq>
              <p:cTn id="93" dur="indefinite" nodeType="mainSeq">
                <p:childTnLst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8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98" dur="2000"/>
                                        <p:tgtEl>
                                          <p:spTgt spid="5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"/>
                            </p:stCondLst>
                            <p:childTnLst>
                              <p:par>
                                <p:cTn id="104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202"/>
                            </p:stCondLst>
                            <p:childTnLst>
                              <p:par>
                                <p:cTn id="107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403"/>
                            </p:stCondLst>
                            <p:childTnLst>
                              <p:par>
                                <p:cTn id="110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604"/>
                            </p:stCondLst>
                            <p:childTnLst>
                              <p:par>
                                <p:cTn id="113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805"/>
                            </p:stCondLst>
                            <p:childTnLst>
                              <p:par>
                                <p:cTn id="116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006"/>
                            </p:stCondLst>
                            <p:childTnLst>
                              <p:par>
                                <p:cTn id="119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1207"/>
                            </p:stCondLst>
                            <p:childTnLst>
                              <p:par>
                                <p:cTn id="122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1408"/>
                            </p:stCondLst>
                            <p:childTnLst>
                              <p:par>
                                <p:cTn id="125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1609"/>
                            </p:stCondLst>
                            <p:childTnLst>
                              <p:par>
                                <p:cTn id="128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810"/>
                            </p:stCondLst>
                            <p:childTnLst>
                              <p:par>
                                <p:cTn id="131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3" fill="hold">
                            <p:stCondLst>
                              <p:cond delay="2011"/>
                            </p:stCondLst>
                            <p:childTnLst>
                              <p:par>
                                <p:cTn id="134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4" name="Imagen 11"/>
          <p:cNvPicPr/>
          <p:nvPr/>
        </p:nvPicPr>
        <p:blipFill>
          <a:blip r:embed="rId1"/>
          <a:stretch/>
        </p:blipFill>
        <p:spPr>
          <a:xfrm>
            <a:off x="2348280" y="643320"/>
            <a:ext cx="8372160" cy="56458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5" name=""/>
          <p:cNvSpPr/>
          <p:nvPr/>
        </p:nvSpPr>
        <p:spPr>
          <a:xfrm>
            <a:off x="9231480" y="707760"/>
            <a:ext cx="1430640" cy="837720"/>
          </a:xfrm>
          <a:prstGeom prst="ellipse">
            <a:avLst/>
          </a:prstGeom>
          <a:gradFill rotWithShape="0">
            <a:gsLst>
              <a:gs pos="0">
                <a:srgbClr val="B4C7DC"/>
              </a:gs>
              <a:gs pos="100000">
                <a:srgbClr val="FFD7D7"/>
              </a:gs>
            </a:gsLst>
            <a:path path="rect">
              <a:fillToRect l="50000" t="50000" r="50000" b="50000"/>
            </a:path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IC=0,45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  <p:timing>
    <p:tnLst>
      <p:par>
        <p:cTn id="136" dur="indefinite" restart="never" nodeType="tmRoot">
          <p:childTnLst>
            <p:seq>
              <p:cTn id="137" dur="indefinite" nodeType="mainSeq">
                <p:childTnLst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42" dur="500"/>
                                        <p:tgtEl>
                                          <p:spTgt spid="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 additive="repl">
                                        <p:cTn id="147" dur="2000"/>
                                        <p:tgtEl>
                                          <p:spTgt spid="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6" name="Imagen 11"/>
          <p:cNvPicPr/>
          <p:nvPr/>
        </p:nvPicPr>
        <p:blipFill>
          <a:blip r:embed="rId1"/>
          <a:stretch/>
        </p:blipFill>
        <p:spPr>
          <a:xfrm>
            <a:off x="2302920" y="570240"/>
            <a:ext cx="8431200" cy="56858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7" name=""/>
          <p:cNvSpPr/>
          <p:nvPr/>
        </p:nvSpPr>
        <p:spPr>
          <a:xfrm>
            <a:off x="9252720" y="621000"/>
            <a:ext cx="1430640" cy="837720"/>
          </a:xfrm>
          <a:prstGeom prst="ellipse">
            <a:avLst/>
          </a:prstGeom>
          <a:gradFill rotWithShape="0">
            <a:gsLst>
              <a:gs pos="0">
                <a:srgbClr val="B4C7DC"/>
              </a:gs>
              <a:gs pos="100000">
                <a:srgbClr val="FFD7D7"/>
              </a:gs>
            </a:gsLst>
            <a:path path="rect">
              <a:fillToRect l="50000" t="50000" r="50000" b="50000"/>
            </a:path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IC=0,58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  <p:timing>
    <p:tnLst>
      <p:par>
        <p:cTn id="148" dur="indefinite" restart="never" nodeType="tmRoot">
          <p:childTnLst>
            <p:seq>
              <p:cTn id="149" dur="indefinite" nodeType="mainSeq">
                <p:childTnLst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54" dur="500"/>
                                        <p:tgtEl>
                                          <p:spTgt spid="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 additive="repl">
                                        <p:cTn id="159" dur="2000"/>
                                        <p:tgtEl>
                                          <p:spTgt spid="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8" name="Marcador de contenido 6"/>
          <p:cNvPicPr/>
          <p:nvPr/>
        </p:nvPicPr>
        <p:blipFill>
          <a:blip r:embed="rId1"/>
          <a:stretch/>
        </p:blipFill>
        <p:spPr>
          <a:xfrm>
            <a:off x="2378880" y="609840"/>
            <a:ext cx="8361360" cy="56422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89" name=""/>
          <p:cNvSpPr/>
          <p:nvPr/>
        </p:nvSpPr>
        <p:spPr>
          <a:xfrm>
            <a:off x="9253080" y="621000"/>
            <a:ext cx="1430640" cy="837720"/>
          </a:xfrm>
          <a:prstGeom prst="ellipse">
            <a:avLst/>
          </a:prstGeom>
          <a:gradFill rotWithShape="0">
            <a:gsLst>
              <a:gs pos="0">
                <a:srgbClr val="B4C7DC"/>
              </a:gs>
              <a:gs pos="100000">
                <a:srgbClr val="FFD7D7"/>
              </a:gs>
            </a:gsLst>
            <a:path path="rect">
              <a:fillToRect l="50000" t="50000" r="50000" b="50000"/>
            </a:path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IC=0,16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  <p:timing>
    <p:tnLst>
      <p:par>
        <p:cTn id="160" dur="indefinite" restart="never" nodeType="tmRoot">
          <p:childTnLst>
            <p:seq>
              <p:cTn id="161" dur="indefinite" nodeType="mainSeq">
                <p:childTnLst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66" dur="500"/>
                                        <p:tgtEl>
                                          <p:spTgt spid="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 additive="repl">
                                        <p:cTn id="171" dur="2000"/>
                                        <p:tgtEl>
                                          <p:spTgt spid="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Marcador de contenido 5"/>
          <p:cNvPicPr/>
          <p:nvPr/>
        </p:nvPicPr>
        <p:blipFill>
          <a:blip r:embed="rId1"/>
          <a:stretch/>
        </p:blipFill>
        <p:spPr>
          <a:xfrm>
            <a:off x="2252160" y="565560"/>
            <a:ext cx="8476560" cy="5719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591" name=""/>
          <p:cNvSpPr/>
          <p:nvPr/>
        </p:nvSpPr>
        <p:spPr>
          <a:xfrm>
            <a:off x="8837280" y="621000"/>
            <a:ext cx="1846800" cy="837720"/>
          </a:xfrm>
          <a:prstGeom prst="ellipse">
            <a:avLst/>
          </a:prstGeom>
          <a:gradFill rotWithShape="0">
            <a:gsLst>
              <a:gs pos="0">
                <a:srgbClr val="B4C7DC"/>
              </a:gs>
              <a:gs pos="100000">
                <a:srgbClr val="FFD7D7"/>
              </a:gs>
            </a:gsLst>
            <a:path path="rect">
              <a:fillToRect l="50000" t="50000" r="50000" b="50000"/>
            </a:path>
          </a:gra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 algn="ctr">
              <a:lnSpc>
                <a:spcPct val="100000"/>
              </a:lnSpc>
            </a:pPr>
            <a:r>
              <a:rPr lang="es-ES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IC=-0,017</a:t>
            </a: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  <p:timing>
    <p:tnLst>
      <p:par>
        <p:cTn id="172" dur="indefinite" restart="never" nodeType="tmRoot">
          <p:childTnLst>
            <p:seq>
              <p:cTn id="173" dur="indefinite" nodeType="mainSeq">
                <p:childTnLst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78" dur="500"/>
                                        <p:tgtEl>
                                          <p:spTgt spid="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6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 additive="repl">
                                        <p:cTn id="183" dur="2000"/>
                                        <p:tgtEl>
                                          <p:spTgt spid="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Marcador de contenido 6"/>
          <p:cNvPicPr/>
          <p:nvPr/>
        </p:nvPicPr>
        <p:blipFill>
          <a:blip r:embed="rId1"/>
          <a:stretch/>
        </p:blipFill>
        <p:spPr>
          <a:xfrm>
            <a:off x="2638440" y="338760"/>
            <a:ext cx="7405200" cy="60976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  <p:timing>
    <p:tnLst>
      <p:par>
        <p:cTn id="184" dur="indefinite" restart="never" nodeType="tmRoot">
          <p:childTnLst>
            <p:seq>
              <p:cTn id="185" dur="indefinite" nodeType="mainSeq">
                <p:childTnLst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190" dur="500"/>
                                        <p:tgtEl>
                                          <p:spTgt spid="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4264920" cy="773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Hipótesis principal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594" name=""/>
          <p:cNvPicPr/>
          <p:nvPr/>
        </p:nvPicPr>
        <p:blipFill>
          <a:blip r:embed="rId1"/>
          <a:stretch/>
        </p:blipFill>
        <p:spPr>
          <a:xfrm>
            <a:off x="6406920" y="1676520"/>
            <a:ext cx="5563800" cy="41464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5" name=""/>
          <p:cNvPicPr/>
          <p:nvPr/>
        </p:nvPicPr>
        <p:blipFill>
          <a:blip r:embed="rId2"/>
          <a:stretch/>
        </p:blipFill>
        <p:spPr>
          <a:xfrm>
            <a:off x="516600" y="1686600"/>
            <a:ext cx="5569920" cy="4143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  <p:timing>
    <p:tnLst>
      <p:par>
        <p:cTn id="191" dur="indefinite" restart="never" nodeType="tmRoot">
          <p:childTnLst>
            <p:seq>
              <p:cTn id="192" dur="indefinite" nodeType="mainSeq">
                <p:childTnLst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7" fill="hold">
                            <p:stCondLst>
                              <p:cond delay="1"/>
                            </p:stCondLst>
                            <p:childTnLst>
                              <p:par>
                                <p:cTn id="198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99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PlaceHolder 1"/>
          <p:cNvSpPr>
            <a:spLocks noGrp="1"/>
          </p:cNvSpPr>
          <p:nvPr>
            <p:ph/>
          </p:nvPr>
        </p:nvSpPr>
        <p:spPr>
          <a:xfrm>
            <a:off x="2538360" y="2133720"/>
            <a:ext cx="8913240" cy="377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spcBef>
                <a:spcPts val="1001"/>
              </a:spcBef>
              <a:buNone/>
            </a:pP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597" name=""/>
          <p:cNvPicPr/>
          <p:nvPr/>
        </p:nvPicPr>
        <p:blipFill>
          <a:blip r:embed="rId1"/>
          <a:stretch/>
        </p:blipFill>
        <p:spPr>
          <a:xfrm>
            <a:off x="4572000" y="3548520"/>
            <a:ext cx="4028040" cy="313020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8" name=""/>
          <p:cNvPicPr/>
          <p:nvPr/>
        </p:nvPicPr>
        <p:blipFill>
          <a:blip r:embed="rId2"/>
          <a:stretch/>
        </p:blipFill>
        <p:spPr>
          <a:xfrm>
            <a:off x="7293240" y="313200"/>
            <a:ext cx="3946680" cy="310968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599" name="Imagen 3"/>
          <p:cNvPicPr/>
          <p:nvPr/>
        </p:nvPicPr>
        <p:blipFill>
          <a:blip r:embed="rId3"/>
          <a:stretch/>
        </p:blipFill>
        <p:spPr>
          <a:xfrm>
            <a:off x="1957320" y="311400"/>
            <a:ext cx="3999240" cy="3141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  <p:timing>
    <p:tnLst>
      <p:par>
        <p:cTn id="200" dur="indefinite" restart="never" nodeType="tmRoot">
          <p:childTnLst>
            <p:seq>
              <p:cTn id="201" dur="indefinite" nodeType="mainSeq">
                <p:childTnLst>
                  <p:par>
                    <p:cTn id="202" fill="hold">
                      <p:stCondLst>
                        <p:cond delay="indefinite"/>
                      </p:stCondLst>
                      <p:childTnLst>
                        <p:par>
                          <p:cTn id="203" fill="hold">
                            <p:stCondLst>
                              <p:cond delay="0"/>
                            </p:stCondLst>
                            <p:childTnLst>
                              <p:par>
                                <p:cTn id="204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6" fill="hold">
                            <p:stCondLst>
                              <p:cond delay="1"/>
                            </p:stCondLst>
                            <p:childTnLst>
                              <p:par>
                                <p:cTn id="207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>
                            <p:stCondLst>
                              <p:cond delay="202"/>
                            </p:stCondLst>
                            <p:childTnLst>
                              <p:par>
                                <p:cTn id="210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2937960" cy="72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Subhipótesis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01" name="PlaceHolder 2"/>
          <p:cNvSpPr>
            <a:spLocks noGrp="1"/>
          </p:cNvSpPr>
          <p:nvPr>
            <p:ph/>
          </p:nvPr>
        </p:nvSpPr>
        <p:spPr>
          <a:xfrm>
            <a:off x="2529720" y="1625760"/>
            <a:ext cx="8913240" cy="37753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18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“La importancia de la motivación de un estudiante a la hora de la nota final”</a:t>
            </a:r>
            <a:endParaRPr lang="es-ES" sz="18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602" name=""/>
          <p:cNvPicPr/>
          <p:nvPr/>
        </p:nvPicPr>
        <p:blipFill>
          <a:blip r:embed="rId1"/>
          <a:stretch/>
        </p:blipFill>
        <p:spPr>
          <a:xfrm>
            <a:off x="3971880" y="2404440"/>
            <a:ext cx="5967360" cy="388908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  <p:timing>
    <p:tnLst>
      <p:par>
        <p:cTn id="212" dur="indefinite" restart="never" nodeType="tmRoot">
          <p:childTnLst>
            <p:seq>
              <p:cTn id="213" dur="indefinite" nodeType="mainSeq">
                <p:childTnLst>
                  <p:par>
                    <p:cTn id="214" fill="hold">
                      <p:stCondLst>
                        <p:cond delay="indefinite"/>
                      </p:stCondLst>
                      <p:childTnLst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8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218" dur="2000"/>
                                        <p:tgtEl>
                                          <p:spTgt spid="6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23" dur="500"/>
                                        <p:tgtEl>
                                          <p:spTgt spid="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2937960" cy="7268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Subhipótesis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pic>
        <p:nvPicPr>
          <p:cNvPr id="604" name=""/>
          <p:cNvPicPr/>
          <p:nvPr/>
        </p:nvPicPr>
        <p:blipFill>
          <a:blip r:embed="rId1"/>
          <a:stretch/>
        </p:blipFill>
        <p:spPr>
          <a:xfrm>
            <a:off x="2658960" y="1404720"/>
            <a:ext cx="7837560" cy="509724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  <p:timing>
    <p:tnLst>
      <p:par>
        <p:cTn id="224" dur="indefinite" restart="never" nodeType="tmRoot">
          <p:childTnLst>
            <p:seq>
              <p:cTn id="225" dur="indefinite" nodeType="mainSeq">
                <p:childTnLst>
                  <p:par>
                    <p:cTn id="226" fill="hold">
                      <p:stCondLst>
                        <p:cond delay="indefinite"/>
                      </p:stCondLst>
                      <p:childTnLst>
                        <p:par>
                          <p:cTn id="227" fill="hold">
                            <p:stCondLst>
                              <p:cond delay="0"/>
                            </p:stCondLst>
                            <p:childTnLst>
                              <p:par>
                                <p:cTn id="228" presetID="3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 additive="repl">
                                        <p:cTn id="230" dur="500"/>
                                        <p:tgtEl>
                                          <p:spTgt spid="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5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3349080" cy="61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Conclusiones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06" name="PlaceHolder 2"/>
          <p:cNvSpPr>
            <a:spLocks noGrp="1"/>
          </p:cNvSpPr>
          <p:nvPr>
            <p:ph/>
          </p:nvPr>
        </p:nvSpPr>
        <p:spPr>
          <a:xfrm>
            <a:off x="2419560" y="1710720"/>
            <a:ext cx="8913240" cy="1092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l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Hipótesis Principal:</a:t>
            </a:r>
            <a:endParaRPr lang="es-ES" sz="25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“Los estudiantes con una buena organización de estudio tienen más probabilidades de sacar mejor nota”</a:t>
            </a:r>
            <a:endParaRPr lang="es-ES" sz="2500" b="0" u="none" strike="noStrike">
              <a:solidFill>
                <a:schemeClr val="dk1">
                  <a:lumMod val="75000"/>
                  <a:lumOff val="2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07" name="Marcador de contenido 3"/>
          <p:cNvSpPr/>
          <p:nvPr/>
        </p:nvSpPr>
        <p:spPr>
          <a:xfrm>
            <a:off x="2343960" y="3951000"/>
            <a:ext cx="8913240" cy="147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608" name=""/>
          <p:cNvGraphicFramePr/>
          <p:nvPr/>
        </p:nvGraphicFramePr>
        <p:xfrm>
          <a:off x="4627080" y="3882960"/>
          <a:ext cx="5500080" cy="2007720"/>
        </p:xfrm>
        <a:graphic>
          <a:graphicData uri="http://schemas.openxmlformats.org/drawingml/2006/table">
            <a:tbl>
              <a:tblPr/>
              <a:tblGrid>
                <a:gridCol w="2749680"/>
                <a:gridCol w="2750760"/>
              </a:tblGrid>
              <a:tr h="21240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Nivel de afectación en la nota del examen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1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Índice de Correlación (IC)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2240">
                      <a:noFill/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</a:tr>
              <a:tr h="34632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Attendance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0,58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</a:tr>
              <a:tr h="34632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Study Hours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0,46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</a:tr>
              <a:tr h="34632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Tutoring Sessions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0,16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</a:tr>
              <a:tr h="346320"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Resto de variables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108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  <a:tc>
                  <a:txBody>
                    <a:bodyPr lIns="36000" tIns="36000" rIns="36000" bIns="36000" anchor="ctr">
                      <a:noAutofit/>
                    </a:bodyPr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s-ES" sz="1800" b="0" u="none" strike="noStrik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~0</a:t>
                      </a:r>
                      <a:endParaRPr lang="es-ES" sz="1800" b="0" u="none" strike="noStrik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 marT="36000" marB="36000">
                    <a:lnL w="7200">
                      <a:solidFill>
                        <a:srgbClr val="000000"/>
                      </a:solidFill>
                      <a:prstDash val="solid"/>
                    </a:lnL>
                    <a:lnR w="10800">
                      <a:solidFill>
                        <a:srgbClr val="000000"/>
                      </a:solidFill>
                      <a:prstDash val="solid"/>
                    </a:lnR>
                    <a:lnT w="10800">
                      <a:solidFill>
                        <a:srgbClr val="000000"/>
                      </a:solidFill>
                      <a:prstDash val="solid"/>
                    </a:lnT>
                    <a:lnB w="10800">
                      <a:solidFill>
                        <a:srgbClr val="000000"/>
                      </a:solidFill>
                      <a:prstDash val="solid"/>
                    </a:lnB>
                    <a:gradFill rotWithShape="0">
                      <a:gsLst>
                        <a:gs pos="0">
                          <a:srgbClr val="B4C7DC"/>
                        </a:gs>
                        <a:gs pos="100000">
                          <a:srgbClr val="E16173"/>
                        </a:gs>
                      </a:gsLst>
                      <a:path path="rect">
                        <a:fillToRect l="50000" t="50000" r="50000" b="50000"/>
                      </a:path>
                    </a:gradFill>
                  </a:tcPr>
                </a:tc>
              </a:tr>
            </a:tbl>
          </a:graphicData>
        </a:graphic>
      </p:graphicFrame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  <p:timing>
    <p:tnLst>
      <p:par>
        <p:cTn id="231" dur="indefinite" restart="never" nodeType="tmRoot">
          <p:childTnLst>
            <p:seq>
              <p:cTn id="232" dur="indefinite" nodeType="mainSeq">
                <p:childTnLst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8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237" dur="2000"/>
                                        <p:tgtEl>
                                          <p:spTgt spid="6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8" presetID="8" presetClass="entr" fill="hold" nodeType="with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240" dur="2000"/>
                                        <p:tgtEl>
                                          <p:spTgt spid="60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>
                      <p:stCondLst>
                        <p:cond delay="indefinite"/>
                      </p:stCondLst>
                      <p:childTnLst>
                        <p:par>
                          <p:cTn id="242" fill="hold">
                            <p:stCondLst>
                              <p:cond delay="0"/>
                            </p:stCondLst>
                            <p:childTnLst>
                              <p:par>
                                <p:cTn id="243" presetID="5" presetClass="entr" fill="hold" nodeType="clickEffect" presetSubtype="1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 additive="repl">
                                        <p:cTn id="245" dur="500"/>
                                        <p:tgtEl>
                                          <p:spTgt spid="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PlaceHolder 1"/>
          <p:cNvSpPr>
            <a:spLocks noGrp="1"/>
          </p:cNvSpPr>
          <p:nvPr>
            <p:ph type="title"/>
          </p:nvPr>
        </p:nvSpPr>
        <p:spPr>
          <a:xfrm>
            <a:off x="2593080" y="624240"/>
            <a:ext cx="3349080" cy="610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indent="0" algn="l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36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Conclusiones</a:t>
            </a:r>
            <a:endParaRPr lang="es-ES" sz="36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10" name="Marcador de contenido 7"/>
          <p:cNvSpPr/>
          <p:nvPr/>
        </p:nvSpPr>
        <p:spPr>
          <a:xfrm>
            <a:off x="2301480" y="1716120"/>
            <a:ext cx="8913240" cy="1474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>
            <a:normAutofit/>
          </a:bodyPr>
          <a:p>
            <a:pPr marL="343080" indent="-343080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Subhipótesis: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743040" lvl="1" indent="-285840" algn="just" defTabSz="457200">
              <a:lnSpc>
                <a:spcPct val="100000"/>
              </a:lnSpc>
              <a:spcBef>
                <a:spcPts val="1001"/>
              </a:spcBef>
              <a:buClr>
                <a:srgbClr val="A53010"/>
              </a:buClr>
              <a:buFont typeface="Wingdings 3" charset="2"/>
              <a:buChar char=""/>
            </a:pPr>
            <a:r>
              <a:rPr lang="es-ES" sz="2500" b="0" u="none" strike="noStrike">
                <a:solidFill>
                  <a:schemeClr val="dk1">
                    <a:lumMod val="75000"/>
                    <a:lumOff val="25000"/>
                  </a:schemeClr>
                </a:solidFill>
                <a:effectLst/>
                <a:uFillTx/>
                <a:latin typeface="Century Gothic"/>
              </a:rPr>
              <a:t>“La importancia de la motivación de un estudiante a la hora de la nota final”</a:t>
            </a:r>
            <a:endParaRPr lang="es-ES" sz="2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1" name=""/>
          <p:cNvSpPr/>
          <p:nvPr/>
        </p:nvSpPr>
        <p:spPr>
          <a:xfrm>
            <a:off x="6307200" y="3191760"/>
            <a:ext cx="726480" cy="1361520"/>
          </a:xfrm>
          <a:prstGeom prst="downArrow">
            <a:avLst>
              <a:gd name="adj1" fmla="val 50000"/>
              <a:gd name="adj2" fmla="val 46810"/>
            </a:avLst>
          </a:prstGeom>
          <a:solidFill>
            <a:srgbClr val="C9211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2" name=""/>
          <p:cNvSpPr/>
          <p:nvPr/>
        </p:nvSpPr>
        <p:spPr>
          <a:xfrm>
            <a:off x="2734560" y="5105160"/>
            <a:ext cx="2682360" cy="11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s-ES" sz="3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Nivel de Motivación</a:t>
            </a:r>
            <a:endParaRPr lang="es-E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3" name=""/>
          <p:cNvSpPr/>
          <p:nvPr/>
        </p:nvSpPr>
        <p:spPr>
          <a:xfrm>
            <a:off x="8373600" y="5055120"/>
            <a:ext cx="2394720" cy="1156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t" anchorCtr="1">
            <a:spAutoFit/>
          </a:bodyPr>
          <a:p>
            <a:pPr algn="ctr">
              <a:lnSpc>
                <a:spcPct val="100000"/>
              </a:lnSpc>
            </a:pPr>
            <a:r>
              <a:rPr lang="es-ES" sz="3500" b="1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Nota del Examen</a:t>
            </a:r>
            <a:endParaRPr lang="es-ES" sz="35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4" name=""/>
          <p:cNvSpPr/>
          <p:nvPr/>
        </p:nvSpPr>
        <p:spPr>
          <a:xfrm>
            <a:off x="8796960" y="3191760"/>
            <a:ext cx="726480" cy="1361520"/>
          </a:xfrm>
          <a:prstGeom prst="downArrow">
            <a:avLst>
              <a:gd name="adj1" fmla="val 50000"/>
              <a:gd name="adj2" fmla="val 46810"/>
            </a:avLst>
          </a:prstGeom>
          <a:solidFill>
            <a:srgbClr val="C9211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5" name=""/>
          <p:cNvSpPr/>
          <p:nvPr/>
        </p:nvSpPr>
        <p:spPr>
          <a:xfrm>
            <a:off x="3869280" y="3191760"/>
            <a:ext cx="726480" cy="1361520"/>
          </a:xfrm>
          <a:prstGeom prst="downArrow">
            <a:avLst>
              <a:gd name="adj1" fmla="val 50000"/>
              <a:gd name="adj2" fmla="val 46810"/>
            </a:avLst>
          </a:prstGeom>
          <a:solidFill>
            <a:srgbClr val="C9211E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tIns="45000" rIns="90000" bIns="45000" anchor="ctr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16" name=""/>
          <p:cNvSpPr/>
          <p:nvPr/>
        </p:nvSpPr>
        <p:spPr>
          <a:xfrm flipV="1">
            <a:off x="5774040" y="5021280"/>
            <a:ext cx="1981440" cy="982080"/>
          </a:xfrm>
          <a:prstGeom prst="line">
            <a:avLst/>
          </a:prstGeom>
          <a:ln w="180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35000" rIns="180000" bIns="135000" anchor="ctr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7" name=""/>
          <p:cNvSpPr/>
          <p:nvPr/>
        </p:nvSpPr>
        <p:spPr>
          <a:xfrm>
            <a:off x="5824800" y="5021280"/>
            <a:ext cx="1981440" cy="982080"/>
          </a:xfrm>
          <a:prstGeom prst="line">
            <a:avLst/>
          </a:prstGeom>
          <a:ln w="180000">
            <a:solidFill>
              <a:srgbClr val="C9211E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180000" tIns="135000" rIns="180000" bIns="135000" anchor="ctr">
            <a:noAutofit/>
          </a:bodyPr>
          <a:p>
            <a:pPr>
              <a:lnSpc>
                <a:spcPct val="100000"/>
              </a:lnSpc>
            </a:pPr>
            <a:endParaRPr lang="es-E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  <p:timing>
    <p:tnLst>
      <p:par>
        <p:cTn id="246" dur="indefinite" restart="never" nodeType="tmRoot">
          <p:childTnLst>
            <p:seq>
              <p:cTn id="247" dur="indefinite" nodeType="mainSeq">
                <p:childTnLst>
                  <p:par>
                    <p:cTn id="248" fill="hold">
                      <p:stCondLst>
                        <p:cond delay="indefinite"/>
                      </p:stCondLst>
                      <p:childTnLst>
                        <p:par>
                          <p:cTn id="249" fill="hold">
                            <p:stCondLst>
                              <p:cond delay="0"/>
                            </p:stCondLst>
                            <p:childTnLst>
                              <p:par>
                                <p:cTn id="250" presetID="8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amond(in)">
                                      <p:cBhvr additive="repl">
                                        <p:cTn id="252" dur="2000"/>
                                        <p:tgtEl>
                                          <p:spTgt spid="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3" fill="hold">
                      <p:stCondLst>
                        <p:cond delay="indefinite"/>
                      </p:stCondLst>
                      <p:childTnLst>
                        <p:par>
                          <p:cTn id="254" fill="hold">
                            <p:stCondLst>
                              <p:cond delay="0"/>
                            </p:stCondLst>
                            <p:childTnLst>
                              <p:par>
                                <p:cTn id="255" presetID="1" presetClass="entr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7" fill="hold">
                            <p:stCondLst>
                              <p:cond delay="1"/>
                            </p:stCondLst>
                            <p:childTnLst>
                              <p:par>
                                <p:cTn id="258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0" fill="hold">
                            <p:stCondLst>
                              <p:cond delay="202"/>
                            </p:stCondLst>
                            <p:childTnLst>
                              <p:par>
                                <p:cTn id="261" presetID="1" presetClass="entr" fill="hold" nodeType="after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3" fill="hold">
                      <p:stCondLst>
                        <p:cond delay="indefinite"/>
                      </p:stCondLst>
                      <p:childTnLst>
                        <p:par>
                          <p:cTn id="264" fill="hold">
                            <p:stCondLst>
                              <p:cond delay="0"/>
                            </p:stCondLst>
                            <p:childTnLst>
                              <p:par>
                                <p:cTn id="265" presetID="4" presetClass="entr" fill="hold" nodeType="clickEffect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67" dur="500"/>
                                        <p:tgtEl>
                                          <p:spTgt spid="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8" fill="hold">
                            <p:stCondLst>
                              <p:cond delay="500"/>
                            </p:stCondLst>
                            <p:childTnLst>
                              <p:par>
                                <p:cTn id="269" presetID="4" presetClass="entr" fill="hold" nodeType="afterEffect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71" dur="500"/>
                                        <p:tgtEl>
                                          <p:spTgt spid="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2" fill="hold">
                            <p:stCondLst>
                              <p:cond delay="1500"/>
                            </p:stCondLst>
                            <p:childTnLst>
                              <p:par>
                                <p:cTn id="273" presetID="4" presetClass="entr" fill="hold" nodeType="afterEffect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75" dur="500"/>
                                        <p:tgtEl>
                                          <p:spTgt spid="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7" presetID="4" presetClass="entr" fill="hold" nodeType="afterEffect" presetSubtype="16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 additive="repl">
                                        <p:cTn id="279" dur="500"/>
                                        <p:tgtEl>
                                          <p:spTgt spid="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PlaceHolder 1"/>
          <p:cNvSpPr>
            <a:spLocks noGrp="1"/>
          </p:cNvSpPr>
          <p:nvPr>
            <p:ph type="title"/>
          </p:nvPr>
        </p:nvSpPr>
        <p:spPr>
          <a:xfrm>
            <a:off x="2589120" y="946800"/>
            <a:ext cx="8913240" cy="2722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rmAutofit/>
          </a:bodyPr>
          <a:p>
            <a:pPr indent="0" algn="ctr" defTabSz="4572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ES" sz="7000" b="0" u="none" strike="noStrike">
                <a:solidFill>
                  <a:schemeClr val="dk1">
                    <a:lumMod val="85000"/>
                    <a:lumOff val="15000"/>
                  </a:schemeClr>
                </a:solidFill>
                <a:effectLst/>
                <a:uFillTx/>
                <a:latin typeface="Century Gothic"/>
              </a:rPr>
              <a:t>ESKERRIK ASKO</a:t>
            </a:r>
            <a:endParaRPr lang="es-ES" sz="7000" b="0" u="none" strike="noStrike">
              <a:solidFill>
                <a:schemeClr val="dk1">
                  <a:lumMod val="85000"/>
                  <a:lumOff val="15000"/>
                </a:schemeClr>
              </a:solidFill>
              <a:effectLst/>
              <a:uFillTx/>
              <a:latin typeface="Century Gothic"/>
            </a:endParaRPr>
          </a:p>
        </p:txBody>
      </p:sp>
      <p:sp>
        <p:nvSpPr>
          <p:cNvPr id="619" name="PlaceHolder 2"/>
          <p:cNvSpPr>
            <a:spLocks noGrp="1"/>
          </p:cNvSpPr>
          <p:nvPr>
            <p:ph/>
          </p:nvPr>
        </p:nvSpPr>
        <p:spPr>
          <a:xfrm>
            <a:off x="2589120" y="5181480"/>
            <a:ext cx="8913240" cy="727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p>
            <a:pPr marL="343080" indent="-343080" algn="r" defTabSz="457200">
              <a:lnSpc>
                <a:spcPct val="100000"/>
              </a:lnSpc>
              <a:spcBef>
                <a:spcPts val="1001"/>
              </a:spcBef>
              <a:buNone/>
              <a:tabLst>
                <a:tab pos="0" algn="l"/>
              </a:tabLst>
            </a:pPr>
            <a:r>
              <a:rPr lang="es-ES" sz="1800" b="0" u="none" strike="noStrike">
                <a:solidFill>
                  <a:schemeClr val="dk1">
                    <a:lumMod val="65000"/>
                    <a:lumOff val="35000"/>
                  </a:schemeClr>
                </a:solidFill>
                <a:effectLst/>
                <a:uFillTx/>
                <a:latin typeface="Century Gothic"/>
              </a:rPr>
              <a:t>Proyecto EDA – Notas de exámenes</a:t>
            </a:r>
            <a:endParaRPr lang="es-ES" sz="1800" b="0" u="none" strike="noStrike">
              <a:solidFill>
                <a:schemeClr val="dk1">
                  <a:lumMod val="65000"/>
                  <a:lumOff val="35000"/>
                </a:schemeClr>
              </a:solidFill>
              <a:effectLst/>
              <a:uFillTx/>
              <a:latin typeface="Century Gothic"/>
            </a:endParaRPr>
          </a:p>
        </p:txBody>
      </p:sp>
    </p:spTree>
  </p:cSld>
  <mc:AlternateContent>
    <mc:Choice Requires="p14">
      <p:transition spd="slow" p14:dur="2000">
        <p:fade thruBlk="true"/>
      </p:transition>
    </mc:Choice>
    <mc:Fallback>
      <p:transition spd="slow">
        <p:fade thruBlk="true"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Espiral">
  <a:themeElements>
    <a:clrScheme name="Espiral">
      <a:dk1>
        <a:srgbClr val="000000"/>
      </a:dk1>
      <a:lt1>
        <a:srgbClr val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 pitchFamily="0" charset="1"/>
        <a:ea typeface=""/>
        <a:cs typeface=""/>
      </a:majorFont>
      <a:minorFont>
        <a:latin typeface="Century Gothic" panose="020B0502020202020204" pitchFamily="0" charset="1"/>
        <a:ea typeface=""/>
        <a:cs typeface=""/>
      </a:minorFont>
    </a:fontScheme>
    <a:fmtScheme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  <a:tileRect l="0" t="0" r="0" b="0"/>
        </a:gradFill>
      </a:fillStyleLst>
      <a:lnStyleLst>
        <a:ln w="9525" cap="rnd" cmpd="sng" algn="ctr">
          <a:prstDash val="solid"/>
        </a:ln>
        <a:ln w="15875" cap="rnd" cmpd="sng" algn="ctr">
          <a:prstDash val="solid"/>
        </a:ln>
        <a:ln w="22225" cap="rnd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lumMod val="98000"/>
              </a:schemeClr>
            </a:gs>
          </a:gsLst>
          <a:path path="circle">
            <a:fillToRect l="50000" t="50000" r="100000" b="10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786</TotalTime>
  <Application>LibreOffice/26.2.2.2$Windows_X86_64 LibreOffice_project/1f77d10d6938fd34972958f64b2bcfa54f8b1ba5</Application>
  <AppVersion>15.0000</AppVersion>
  <Words>322</Words>
  <Paragraphs>53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2026-04-07T15:41:30Z</dcterms:created>
  <dc:creator>Héctor</dc:creator>
  <dc:description/>
  <dc:language>es-ES</dc:language>
  <cp:lastModifiedBy/>
  <dcterms:modified xsi:type="dcterms:W3CDTF">2026-04-15T16:19:32Z</dcterms:modified>
  <cp:revision>26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3</vt:i4>
  </property>
  <property fmtid="{D5CDD505-2E9C-101B-9397-08002B2CF9AE}" pid="3" name="PresentationFormat">
    <vt:lpwstr>Panorámica</vt:lpwstr>
  </property>
  <property fmtid="{D5CDD505-2E9C-101B-9397-08002B2CF9AE}" pid="4" name="Slides">
    <vt:i4>15</vt:i4>
  </property>
</Properties>
</file>