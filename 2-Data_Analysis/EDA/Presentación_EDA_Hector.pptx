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7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s-ES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Pulse para desplazar la diapositiva</a:t>
            </a:r>
            <a:endParaRPr lang="es-E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&lt;cabecera&gt;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PlaceHolder 4"/>
          <p:cNvSpPr>
            <a:spLocks noGrp="1"/>
          </p:cNvSpPr>
          <p:nvPr>
            <p:ph type="dt" idx="49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PlaceHolder 5"/>
          <p:cNvSpPr>
            <a:spLocks noGrp="1"/>
          </p:cNvSpPr>
          <p:nvPr>
            <p:ph type="ftr" idx="50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PlaceHolder 6"/>
          <p:cNvSpPr>
            <a:spLocks noGrp="1"/>
          </p:cNvSpPr>
          <p:nvPr>
            <p:ph type="sldNum" idx="51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07023A2-E80F-4662-A818-33C8BEE1B7A5}" type="slidenum"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803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just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Siempre nos hemos preguntado cómo podemos sacar mejores notas; pues aquí veremos qué hábitos de estudio afectan a ello y cuáles no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A39C5BE-610B-4AB5-8310-82E480CF23AC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23" name=""/>
          <p:cNvSpPr/>
          <p:nvPr/>
        </p:nvSpPr>
        <p:spPr>
          <a:xfrm>
            <a:off x="551880" y="4544280"/>
            <a:ext cx="6046560" cy="20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just">
              <a:lnSpc>
                <a:spcPct val="100000"/>
              </a:lnSpc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 alumnos tienen diferentes backgrounds, ya que han crecido en diferentes entornos. Esto se ha medido mediante: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La educación de los padres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El tipo de escuela al que el alumno ha acudido: pública o privada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Los ingresos anuales familiares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6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2937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(mín=55)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Vemos la distribución y la frecuencia de las notas del examen dividido en rangos por columnas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Estas columnas están divididas por cuántos estudiantes caen dentro de este rango. Ejemplo: 1500 estudiantes han sacado entre 60 y 65.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Columna más alta nos indica dónde se concentran la mayoría de los datos; es decir, la mayoría de los estudiantes han sacado entre 65 y 70 → sacar media: 67,24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8A1EBD0-5B57-49DE-9FB5-DB6DED78A0C5}" type="slidenum"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E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628" name="PlaceHolder 2"/>
          <p:cNvSpPr>
            <a:spLocks noGrp="1"/>
          </p:cNvSpPr>
          <p:nvPr>
            <p:ph type="body"/>
          </p:nvPr>
        </p:nvSpPr>
        <p:spPr>
          <a:xfrm>
            <a:off x="437400" y="5078520"/>
            <a:ext cx="6046560" cy="62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Preguntar al público: ¿qué créeis que se tiene en cuenta a la hora de organizar tus estudios?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380880" y="694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426960" y="4292640"/>
            <a:ext cx="5996520" cy="1665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 línea roja es la línea de regresión lineal (o línea de tendencia)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Muestra la dirección de la relación entre las dos variables: como la línea sube, hay una relación positiva: contra más horas se estudia, mejor nota se sacará 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Índice de correlación (IC): 0,45; contra más cerca del 1, más impacto tendrá esa variable en la nota final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380880" y="694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467280" y="4428720"/>
            <a:ext cx="6046200" cy="943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Contra más se atienda a clase, mejor nota se sacará.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Índice de correlación (IC): 0,58; por lo que esta variable afecta más que las “Hours_Studied”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PlaceHolder 1"/>
          <p:cNvSpPr>
            <a:spLocks noGrp="1"/>
          </p:cNvSpPr>
          <p:nvPr>
            <p:ph type="sldImg"/>
          </p:nvPr>
        </p:nvSpPr>
        <p:spPr>
          <a:xfrm>
            <a:off x="380880" y="694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4" name="PlaceHolder 2"/>
          <p:cNvSpPr>
            <a:spLocks noGrp="1"/>
          </p:cNvSpPr>
          <p:nvPr>
            <p:ph type="body"/>
          </p:nvPr>
        </p:nvSpPr>
        <p:spPr>
          <a:xfrm>
            <a:off x="507240" y="4412880"/>
            <a:ext cx="6046200" cy="100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Hay una relación positiva pero la tendencia no es tan fuerte como en los 2 casos anteriores; es decir,contra más tutorías se hagan, no se tiene por qué sacar mejor nota aunque hay alguna probabilidad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Esto se ve porque la pendiente de la línea roja no es tan empinada como las anteriores: contra menos inclinación, la relación entre variables es menos fuerte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IC: 0,16 -&gt; contra más cerca del 0, menos impacto tendrá esa variable en la nota final, siendo 0 ninguna relación entre variables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380880" y="694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443160" y="4268160"/>
            <a:ext cx="6046200" cy="124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IC: -0,017 -&gt; contra más cerca del 0, menos impacto tendrá esa variable en la nota final, siendo 0 ninguna relación entre variables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Conclusión: no hay ninguna relación entre estas variables.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El valor negativo no afecta a la relación si está cerca del 0, pero en caso de que el IC esté más cerca del -1, las variables tendrían un valor negativo; es decir, en este ejemplo si el IC fuera -0,917 significaría que contra menos se duerma de media por noche, mejor nota se saca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380880" y="694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467280" y="4404600"/>
            <a:ext cx="6046200" cy="294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Ejemplo mapa de calor que relaciona todas las variables Numéricas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sldImg"/>
          </p:nvPr>
        </p:nvSpPr>
        <p:spPr>
          <a:xfrm>
            <a:off x="380880" y="694800"/>
            <a:ext cx="6094080" cy="3427200"/>
          </a:xfrm>
          <a:prstGeom prst="rect">
            <a:avLst/>
          </a:prstGeom>
          <a:ln w="0">
            <a:noFill/>
          </a:ln>
        </p:spPr>
      </p:sp>
      <p:sp>
        <p:nvSpPr>
          <p:cNvPr id="640" name="PlaceHolder 2"/>
          <p:cNvSpPr>
            <a:spLocks noGrp="1"/>
          </p:cNvSpPr>
          <p:nvPr>
            <p:ph type="body"/>
          </p:nvPr>
        </p:nvSpPr>
        <p:spPr>
          <a:xfrm>
            <a:off x="426960" y="4292280"/>
            <a:ext cx="6046200" cy="1409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 variables Categóricas, se dibuja un gráfico de promedios que representa la media de los valores de cada variable vs Exam_Score y se ve que cada grupo da muy parecido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Estas variables no influyen significativamente en el resultado del examen</a:t>
            </a:r>
            <a:endParaRPr lang="es-E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642" name="PlaceHolder 2"/>
          <p:cNvSpPr>
            <a:spLocks noGrp="1"/>
          </p:cNvSpPr>
          <p:nvPr>
            <p:ph type="body"/>
          </p:nvPr>
        </p:nvSpPr>
        <p:spPr>
          <a:xfrm>
            <a:off x="1063080" y="5078520"/>
            <a:ext cx="4986360" cy="697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¿Opináis que la motivación de un estudiante afecta a la nota final?</a:t>
            </a:r>
            <a:endParaRPr lang="es-E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200" cy="400788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739440" y="5095440"/>
            <a:ext cx="5595480" cy="875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just">
              <a:buNone/>
            </a:pP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Muestra para cada valor de “Motivation_Level” la forma de los datos, es decir, dónde se concentra la mayoría de los datos: la densidad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de título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3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16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8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2589120" y="2514600"/>
            <a:ext cx="8913600" cy="22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2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Freeform 6"/>
          <p:cNvSpPr/>
          <p:nvPr/>
        </p:nvSpPr>
        <p:spPr>
          <a:xfrm>
            <a:off x="0" y="4323960"/>
            <a:ext cx="1742760" cy="776880"/>
          </a:xfrm>
          <a:custGeom>
            <a:avLst/>
            <a:gdLst>
              <a:gd name="textAreaLeft" fmla="*/ 0 w 1742760"/>
              <a:gd name="textAreaRight" fmla="*/ 1744560 w 1742760"/>
              <a:gd name="textAreaTop" fmla="*/ 0 h 776880"/>
              <a:gd name="textAreaBottom" fmla="*/ 778680 h 776880"/>
            </a:gdLst>
            <a:ahLst/>
            <a:cxnLst/>
            <a:rect l="textAreaLeft" t="textAreaTop" r="textAreaRight" b="textAreaBottom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3"/>
          </p:nvPr>
        </p:nvSpPr>
        <p:spPr>
          <a:xfrm>
            <a:off x="531720" y="452952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14DE978-9AD5-4D3D-AC9E-E89E733D846F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Pulse para editar el formato de texto del esquema</a:t>
            </a:r>
            <a:endParaRPr lang="en-U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 del esquema</a:t>
            </a:r>
            <a:endParaRPr lang="en-U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 del esquema</a:t>
            </a:r>
            <a:endParaRPr lang="en-U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 del esquema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 del esquema</a:t>
            </a:r>
            <a:endParaRPr lang="en-U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Sexto nivel del esquema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Séptimo nivel del esquema</a:t>
            </a:r>
            <a:endParaRPr lang="en-US" sz="20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ítulo y descripción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36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8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49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4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9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2589120" y="609480"/>
            <a:ext cx="8913600" cy="311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2589120" y="4354200"/>
            <a:ext cx="891360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dt" idx="4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ftr" idx="5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Freeform 11"/>
          <p:cNvSpPr/>
          <p:nvPr/>
        </p:nvSpPr>
        <p:spPr>
          <a:xfrm flipV="1">
            <a:off x="-2520" y="317664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6"/>
          </p:nvPr>
        </p:nvSpPr>
        <p:spPr>
          <a:xfrm>
            <a:off x="531720" y="324396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1B40ADD-F236-4D2A-8752-3E1662314B89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ita con descripción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69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1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82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8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2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4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2850120" y="609480"/>
            <a:ext cx="8391960" cy="289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3274920" y="3505320"/>
            <a:ext cx="7534800" cy="3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6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2589120" y="4354200"/>
            <a:ext cx="8913600" cy="155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dt" idx="7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5"/>
          <p:cNvSpPr>
            <a:spLocks noGrp="1"/>
          </p:cNvSpPr>
          <p:nvPr>
            <p:ph type="ftr" idx="8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Freeform 11"/>
          <p:cNvSpPr/>
          <p:nvPr/>
        </p:nvSpPr>
        <p:spPr>
          <a:xfrm flipV="1">
            <a:off x="-2520" y="317664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9"/>
          </p:nvPr>
        </p:nvSpPr>
        <p:spPr>
          <a:xfrm>
            <a:off x="531720" y="324396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D6949A9-B8D2-4103-96C9-E1E05D893143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TextBox 13"/>
          <p:cNvSpPr/>
          <p:nvPr/>
        </p:nvSpPr>
        <p:spPr>
          <a:xfrm>
            <a:off x="2467800" y="648000"/>
            <a:ext cx="60768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“</a:t>
            </a:r>
            <a:endParaRPr lang="es-E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4"/>
          <p:cNvSpPr/>
          <p:nvPr/>
        </p:nvSpPr>
        <p:spPr>
          <a:xfrm>
            <a:off x="11115000" y="2905200"/>
            <a:ext cx="60768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”</a:t>
            </a:r>
            <a:endParaRPr lang="es-E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rjeta de nombre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105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8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9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1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7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118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4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5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6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7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9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30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2589120" y="2438280"/>
            <a:ext cx="8913600" cy="27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2589120" y="5181480"/>
            <a:ext cx="8913600" cy="72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dt" idx="10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4"/>
          <p:cNvSpPr>
            <a:spLocks noGrp="1"/>
          </p:cNvSpPr>
          <p:nvPr>
            <p:ph type="ftr" idx="11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Freeform 11"/>
          <p:cNvSpPr/>
          <p:nvPr/>
        </p:nvSpPr>
        <p:spPr>
          <a:xfrm flipV="1">
            <a:off x="-2520" y="49104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5"/>
          <p:cNvSpPr>
            <a:spLocks noGrp="1"/>
          </p:cNvSpPr>
          <p:nvPr>
            <p:ph type="sldNum" idx="12"/>
          </p:nvPr>
        </p:nvSpPr>
        <p:spPr>
          <a:xfrm>
            <a:off x="531720" y="498312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4760DB7-B8D9-461F-A71C-85A918CFC771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itar la tarjeta de nombre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138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9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0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1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2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3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4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6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9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50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151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3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5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7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2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63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2850120" y="609480"/>
            <a:ext cx="8391960" cy="289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2589120" y="4343400"/>
            <a:ext cx="8913600" cy="83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0" u="none" strike="noStrike">
                <a:solidFill>
                  <a:schemeClr val="accent1"/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accent1"/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24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body"/>
          </p:nvPr>
        </p:nvSpPr>
        <p:spPr>
          <a:xfrm>
            <a:off x="2589120" y="5181480"/>
            <a:ext cx="8913600" cy="72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dt" idx="13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ftr" idx="14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Freeform 11"/>
          <p:cNvSpPr/>
          <p:nvPr/>
        </p:nvSpPr>
        <p:spPr>
          <a:xfrm flipV="1">
            <a:off x="-2520" y="49104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PlaceHolder 6"/>
          <p:cNvSpPr>
            <a:spLocks noGrp="1"/>
          </p:cNvSpPr>
          <p:nvPr>
            <p:ph type="sldNum" idx="15"/>
          </p:nvPr>
        </p:nvSpPr>
        <p:spPr>
          <a:xfrm>
            <a:off x="531720" y="498312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CE84408-39F7-4B97-97C6-BE3E00219E4C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TextBox 16"/>
          <p:cNvSpPr/>
          <p:nvPr/>
        </p:nvSpPr>
        <p:spPr>
          <a:xfrm>
            <a:off x="2467800" y="648000"/>
            <a:ext cx="60768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“</a:t>
            </a:r>
            <a:endParaRPr lang="es-E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17"/>
          <p:cNvSpPr/>
          <p:nvPr/>
        </p:nvSpPr>
        <p:spPr>
          <a:xfrm>
            <a:off x="11115000" y="2905200"/>
            <a:ext cx="607680" cy="58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80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”</a:t>
            </a:r>
            <a:endParaRPr lang="es-ES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dadero o falso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174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5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6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7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8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9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2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3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4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5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86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187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9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0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4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5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6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7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8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9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2589120" y="627480"/>
            <a:ext cx="8913600" cy="287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4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4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2589120" y="4343400"/>
            <a:ext cx="8913600" cy="83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0" u="none" strike="noStrike">
                <a:solidFill>
                  <a:schemeClr val="accent1"/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accent1"/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24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2" name="PlaceHolder 3"/>
          <p:cNvSpPr>
            <a:spLocks noGrp="1"/>
          </p:cNvSpPr>
          <p:nvPr>
            <p:ph type="body"/>
          </p:nvPr>
        </p:nvSpPr>
        <p:spPr>
          <a:xfrm>
            <a:off x="2589120" y="5181480"/>
            <a:ext cx="8913600" cy="72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3" name="PlaceHolder 4"/>
          <p:cNvSpPr>
            <a:spLocks noGrp="1"/>
          </p:cNvSpPr>
          <p:nvPr>
            <p:ph type="dt" idx="16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PlaceHolder 5"/>
          <p:cNvSpPr>
            <a:spLocks noGrp="1"/>
          </p:cNvSpPr>
          <p:nvPr>
            <p:ph type="ftr" idx="17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Freeform 11"/>
          <p:cNvSpPr/>
          <p:nvPr/>
        </p:nvSpPr>
        <p:spPr>
          <a:xfrm flipV="1">
            <a:off x="-2520" y="49104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6"/>
          <p:cNvSpPr>
            <a:spLocks noGrp="1"/>
          </p:cNvSpPr>
          <p:nvPr>
            <p:ph type="sldNum" idx="18"/>
          </p:nvPr>
        </p:nvSpPr>
        <p:spPr>
          <a:xfrm>
            <a:off x="531720" y="498312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AED198A-0DA7-44F5-9AA8-CB880913F4BB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ítulo y texto vertical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7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208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09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0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1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2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3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4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5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6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7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8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9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20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221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2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3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4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5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6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8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9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0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1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2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3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2589120" y="2133720"/>
            <a:ext cx="8913600" cy="3884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dt" idx="19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ftr" idx="20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Freeform 11"/>
          <p:cNvSpPr/>
          <p:nvPr/>
        </p:nvSpPr>
        <p:spPr>
          <a:xfrm flipV="1">
            <a:off x="-2520" y="7110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5"/>
          <p:cNvSpPr>
            <a:spLocks noGrp="1"/>
          </p:cNvSpPr>
          <p:nvPr>
            <p:ph type="sldNum" idx="21"/>
          </p:nvPr>
        </p:nvSpPr>
        <p:spPr>
          <a:xfrm>
            <a:off x="531720" y="78768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D976D59-7E44-44CA-973D-7C41319B1E58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Título vertical y texto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0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241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2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3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4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5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6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7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8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49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0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1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2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53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254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5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8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9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0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1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2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4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5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6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PlaceHolder 1"/>
          <p:cNvSpPr>
            <a:spLocks noGrp="1"/>
          </p:cNvSpPr>
          <p:nvPr>
            <p:ph type="title"/>
          </p:nvPr>
        </p:nvSpPr>
        <p:spPr>
          <a:xfrm>
            <a:off x="9294840" y="627480"/>
            <a:ext cx="2205720" cy="528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2589120" y="627480"/>
            <a:ext cx="6475320" cy="528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dt" idx="22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0" name="PlaceHolder 4"/>
          <p:cNvSpPr>
            <a:spLocks noGrp="1"/>
          </p:cNvSpPr>
          <p:nvPr>
            <p:ph type="ftr" idx="23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1" name="Freeform 11"/>
          <p:cNvSpPr/>
          <p:nvPr/>
        </p:nvSpPr>
        <p:spPr>
          <a:xfrm flipV="1">
            <a:off x="-2520" y="7110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5"/>
          <p:cNvSpPr>
            <a:spLocks noGrp="1"/>
          </p:cNvSpPr>
          <p:nvPr>
            <p:ph type="sldNum" idx="24"/>
          </p:nvPr>
        </p:nvSpPr>
        <p:spPr>
          <a:xfrm>
            <a:off x="531720" y="78768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35942BC-7F7D-4A83-A443-C4591B9BCC7F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ítulo y objetos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3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274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5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6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7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8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79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0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1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2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3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4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5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86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287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8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0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1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2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3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4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5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6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7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8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99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01" name="PlaceHolder 2"/>
          <p:cNvSpPr>
            <a:spLocks noGrp="1"/>
          </p:cNvSpPr>
          <p:nvPr>
            <p:ph type="body"/>
          </p:nvPr>
        </p:nvSpPr>
        <p:spPr>
          <a:xfrm>
            <a:off x="2589120" y="2133720"/>
            <a:ext cx="8913600" cy="377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02" name="PlaceHolder 3"/>
          <p:cNvSpPr>
            <a:spLocks noGrp="1"/>
          </p:cNvSpPr>
          <p:nvPr>
            <p:ph type="dt" idx="25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PlaceHolder 4"/>
          <p:cNvSpPr>
            <a:spLocks noGrp="1"/>
          </p:cNvSpPr>
          <p:nvPr>
            <p:ph type="ftr" idx="26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Freeform 11"/>
          <p:cNvSpPr/>
          <p:nvPr/>
        </p:nvSpPr>
        <p:spPr>
          <a:xfrm flipV="1">
            <a:off x="-2520" y="7110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5"/>
          <p:cNvSpPr>
            <a:spLocks noGrp="1"/>
          </p:cNvSpPr>
          <p:nvPr>
            <p:ph type="sldNum" idx="27"/>
          </p:nvPr>
        </p:nvSpPr>
        <p:spPr>
          <a:xfrm>
            <a:off x="531720" y="78768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08A0A68-7128-4F0B-BDC5-47B700C5C415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cabezado de sección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307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8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9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0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1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2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3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4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5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6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7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18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19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320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1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2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3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4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5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6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7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8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29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0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31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32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2589120" y="2058840"/>
            <a:ext cx="8913600" cy="1467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4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4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4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2589120" y="3530160"/>
            <a:ext cx="8913600" cy="858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0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0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20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dt" idx="28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6" name="PlaceHolder 4"/>
          <p:cNvSpPr>
            <a:spLocks noGrp="1"/>
          </p:cNvSpPr>
          <p:nvPr>
            <p:ph type="ftr" idx="29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7" name="Freeform 11"/>
          <p:cNvSpPr/>
          <p:nvPr/>
        </p:nvSpPr>
        <p:spPr>
          <a:xfrm flipV="1">
            <a:off x="-2520" y="317664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5"/>
          <p:cNvSpPr>
            <a:spLocks noGrp="1"/>
          </p:cNvSpPr>
          <p:nvPr>
            <p:ph type="sldNum" idx="30"/>
          </p:nvPr>
        </p:nvSpPr>
        <p:spPr>
          <a:xfrm>
            <a:off x="531720" y="324396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2C3FFC1-85DC-4DAA-89FD-DBF2B5082154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os objetos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9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340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1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2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3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4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5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6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7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8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9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0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1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52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353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4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5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6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7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8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9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0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1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2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3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64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65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2589120" y="2133720"/>
            <a:ext cx="4312080" cy="377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body"/>
          </p:nvPr>
        </p:nvSpPr>
        <p:spPr>
          <a:xfrm>
            <a:off x="7190640" y="2126160"/>
            <a:ext cx="4312080" cy="377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dt" idx="31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ftr" idx="32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Freeform 11"/>
          <p:cNvSpPr/>
          <p:nvPr/>
        </p:nvSpPr>
        <p:spPr>
          <a:xfrm flipV="1">
            <a:off x="-2520" y="7110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PlaceHolder 6"/>
          <p:cNvSpPr>
            <a:spLocks noGrp="1"/>
          </p:cNvSpPr>
          <p:nvPr>
            <p:ph type="sldNum" idx="33"/>
          </p:nvPr>
        </p:nvSpPr>
        <p:spPr>
          <a:xfrm>
            <a:off x="531720" y="78768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9A0321F-242A-4ECF-AA29-A927CA77E4B8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ación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3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374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5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6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7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9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0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1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2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3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4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5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86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387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8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9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0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1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2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3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4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5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6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7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8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99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 type="body"/>
          </p:nvPr>
        </p:nvSpPr>
        <p:spPr>
          <a:xfrm>
            <a:off x="2939400" y="1972800"/>
            <a:ext cx="3990960" cy="57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 type="body"/>
          </p:nvPr>
        </p:nvSpPr>
        <p:spPr>
          <a:xfrm>
            <a:off x="2589120" y="2548800"/>
            <a:ext cx="4341240" cy="335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 type="body"/>
          </p:nvPr>
        </p:nvSpPr>
        <p:spPr>
          <a:xfrm>
            <a:off x="7506720" y="1969560"/>
            <a:ext cx="3997080" cy="574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2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 type="body"/>
          </p:nvPr>
        </p:nvSpPr>
        <p:spPr>
          <a:xfrm>
            <a:off x="7166880" y="2545560"/>
            <a:ext cx="4336920" cy="335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tabLst>
                <a:tab pos="0" algn="l"/>
              </a:tabLst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 type="dt" idx="34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 type="ftr" idx="35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7" name="Freeform 11"/>
          <p:cNvSpPr/>
          <p:nvPr/>
        </p:nvSpPr>
        <p:spPr>
          <a:xfrm flipV="1">
            <a:off x="-2520" y="7110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PlaceHolder 8"/>
          <p:cNvSpPr>
            <a:spLocks noGrp="1"/>
          </p:cNvSpPr>
          <p:nvPr>
            <p:ph type="sldNum" idx="36"/>
          </p:nvPr>
        </p:nvSpPr>
        <p:spPr>
          <a:xfrm>
            <a:off x="531720" y="78768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F2088A2-463B-4DAB-BF74-CCA1B27D2675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el título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410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1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2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3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4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5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6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7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8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9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0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1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22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423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4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5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6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7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8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29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0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1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2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3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35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 type="dt" idx="37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ftr" idx="38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9" name="Freeform 11"/>
          <p:cNvSpPr/>
          <p:nvPr/>
        </p:nvSpPr>
        <p:spPr>
          <a:xfrm flipV="1">
            <a:off x="-2520" y="7110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PlaceHolder 4"/>
          <p:cNvSpPr>
            <a:spLocks noGrp="1"/>
          </p:cNvSpPr>
          <p:nvPr>
            <p:ph type="sldNum" idx="39"/>
          </p:nvPr>
        </p:nvSpPr>
        <p:spPr>
          <a:xfrm>
            <a:off x="531720" y="78768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13B61B6-F2B8-4CE8-95D6-3D19E38E0360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n blanco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1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442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3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4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5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6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7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8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9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0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1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2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3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54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455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6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7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8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9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0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1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2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3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4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5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6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67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1"/>
          <p:cNvSpPr>
            <a:spLocks noGrp="1"/>
          </p:cNvSpPr>
          <p:nvPr>
            <p:ph type="dt" idx="40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 type="ftr" idx="41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Freeform 11"/>
          <p:cNvSpPr/>
          <p:nvPr/>
        </p:nvSpPr>
        <p:spPr>
          <a:xfrm flipV="1">
            <a:off x="-2520" y="7110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 type="sldNum" idx="42"/>
          </p:nvPr>
        </p:nvSpPr>
        <p:spPr>
          <a:xfrm>
            <a:off x="531720" y="78768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8D1D380-CC8B-4062-A28E-E6823AECCA09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ido con título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2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473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4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5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6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7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8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9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0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1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2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3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4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85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486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7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8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89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0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1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2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3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4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5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6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7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98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9" name="PlaceHolder 1"/>
          <p:cNvSpPr>
            <a:spLocks noGrp="1"/>
          </p:cNvSpPr>
          <p:nvPr>
            <p:ph type="title"/>
          </p:nvPr>
        </p:nvSpPr>
        <p:spPr>
          <a:xfrm>
            <a:off x="2589120" y="446040"/>
            <a:ext cx="3503520" cy="974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6323040" y="446040"/>
            <a:ext cx="5179680" cy="541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Segundo nivel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Tercer nivel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Cuarto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Quinto nivel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body"/>
          </p:nvPr>
        </p:nvSpPr>
        <p:spPr>
          <a:xfrm>
            <a:off x="2589120" y="1598760"/>
            <a:ext cx="3503520" cy="4260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4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dt" idx="43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PlaceHolder 5"/>
          <p:cNvSpPr>
            <a:spLocks noGrp="1"/>
          </p:cNvSpPr>
          <p:nvPr>
            <p:ph type="ftr" idx="44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Freeform 11"/>
          <p:cNvSpPr/>
          <p:nvPr/>
        </p:nvSpPr>
        <p:spPr>
          <a:xfrm flipV="1">
            <a:off x="-2520" y="7110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5" name="PlaceHolder 6"/>
          <p:cNvSpPr>
            <a:spLocks noGrp="1"/>
          </p:cNvSpPr>
          <p:nvPr>
            <p:ph type="sldNum" idx="45"/>
          </p:nvPr>
        </p:nvSpPr>
        <p:spPr>
          <a:xfrm>
            <a:off x="531720" y="78768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FFCF571-BC4C-4E4E-BDBA-CFDB39C86129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 con título">
    <p:bg>
      <p:bgPr>
        <a:gradFill rotWithShape="0">
          <a:gsLst>
            <a:gs pos="0">
              <a:srgbClr val="FFFFFF"/>
            </a:gs>
            <a:gs pos="100000">
              <a:srgbClr val="DFE7C4"/>
            </a:gs>
          </a:gsLst>
          <a:path path="circle">
            <a:fillToRect l="25000" t="25000" r="75000" b="75000"/>
          </a:path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Group 22"/>
          <p:cNvGrpSpPr/>
          <p:nvPr/>
        </p:nvGrpSpPr>
        <p:grpSpPr>
          <a:xfrm>
            <a:off x="0" y="228600"/>
            <a:ext cx="2849760" cy="6636960"/>
            <a:chOff x="0" y="228600"/>
            <a:chExt cx="2849760" cy="6636960"/>
          </a:xfrm>
        </p:grpSpPr>
        <p:sp>
          <p:nvSpPr>
            <p:cNvPr id="507" name="Freeform 11"/>
            <p:cNvSpPr/>
            <p:nvPr/>
          </p:nvSpPr>
          <p:spPr>
            <a:xfrm>
              <a:off x="0" y="2575080"/>
              <a:ext cx="99000" cy="624240"/>
            </a:xfrm>
            <a:custGeom>
              <a:avLst/>
              <a:gdLst>
                <a:gd name="textAreaLeft" fmla="*/ 0 w 99000"/>
                <a:gd name="textAreaRight" fmla="*/ 100800 w 99000"/>
                <a:gd name="textAreaTop" fmla="*/ 0 h 624240"/>
                <a:gd name="textAreaBottom" fmla="*/ 626040 h 624240"/>
              </a:gdLst>
              <a:ahLst/>
              <a:cxnLst/>
              <a:rect l="textAreaLeft" t="textAreaTop" r="textAreaRight" b="textAreaBottom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9680" tIns="45000" rIns="496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8" name="Freeform 12"/>
            <p:cNvSpPr/>
            <p:nvPr/>
          </p:nvSpPr>
          <p:spPr>
            <a:xfrm>
              <a:off x="128520" y="3156480"/>
              <a:ext cx="644760" cy="2320560"/>
            </a:xfrm>
            <a:custGeom>
              <a:avLst/>
              <a:gdLst>
                <a:gd name="textAreaLeft" fmla="*/ 0 w 644760"/>
                <a:gd name="textAreaRight" fmla="*/ 646560 w 644760"/>
                <a:gd name="textAreaTop" fmla="*/ 0 h 2320560"/>
                <a:gd name="textAreaBottom" fmla="*/ 2322360 h 2320560"/>
              </a:gdLst>
              <a:ahLst/>
              <a:cxnLst/>
              <a:rect l="textAreaLeft" t="textAreaTop" r="textAreaRight" b="textAreaBottom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9" name="Freeform 13"/>
            <p:cNvSpPr/>
            <p:nvPr/>
          </p:nvSpPr>
          <p:spPr>
            <a:xfrm>
              <a:off x="807120" y="5447160"/>
              <a:ext cx="607680" cy="1418400"/>
            </a:xfrm>
            <a:custGeom>
              <a:avLst/>
              <a:gdLst>
                <a:gd name="textAreaLeft" fmla="*/ 0 w 607680"/>
                <a:gd name="textAreaRight" fmla="*/ 609480 w 607680"/>
                <a:gd name="textAreaTop" fmla="*/ 0 h 1418400"/>
                <a:gd name="textAreaBottom" fmla="*/ 1420200 h 1418400"/>
              </a:gdLst>
              <a:ahLst/>
              <a:cxnLst/>
              <a:rect l="textAreaLeft" t="textAreaTop" r="textAreaRight" b="textAreaBottom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0" name="Freeform 14"/>
            <p:cNvSpPr/>
            <p:nvPr/>
          </p:nvSpPr>
          <p:spPr>
            <a:xfrm>
              <a:off x="959760" y="6503760"/>
              <a:ext cx="169560" cy="361800"/>
            </a:xfrm>
            <a:custGeom>
              <a:avLst/>
              <a:gdLst>
                <a:gd name="textAreaLeft" fmla="*/ 0 w 169560"/>
                <a:gd name="textAreaRight" fmla="*/ 171360 w 169560"/>
                <a:gd name="textAreaTop" fmla="*/ 0 h 361800"/>
                <a:gd name="textAreaBottom" fmla="*/ 363600 h 361800"/>
              </a:gdLst>
              <a:ahLst/>
              <a:cxnLst/>
              <a:rect l="textAreaLeft" t="textAreaTop" r="textAreaRight" b="textAreaBottom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4960" tIns="45000" rIns="849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1" name="Freeform 15"/>
            <p:cNvSpPr/>
            <p:nvPr/>
          </p:nvSpPr>
          <p:spPr>
            <a:xfrm>
              <a:off x="100800" y="3201120"/>
              <a:ext cx="820080" cy="3326760"/>
            </a:xfrm>
            <a:custGeom>
              <a:avLst/>
              <a:gdLst>
                <a:gd name="textAreaLeft" fmla="*/ 0 w 820080"/>
                <a:gd name="textAreaRight" fmla="*/ 821880 w 820080"/>
                <a:gd name="textAreaTop" fmla="*/ 0 h 3326760"/>
                <a:gd name="textAreaBottom" fmla="*/ 3328560 h 3326760"/>
              </a:gdLst>
              <a:ahLst/>
              <a:cxnLst/>
              <a:rect l="textAreaLeft" t="textAreaTop" r="textAreaRight" b="textAreaBottom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2" name="Freeform 16"/>
            <p:cNvSpPr/>
            <p:nvPr/>
          </p:nvSpPr>
          <p:spPr>
            <a:xfrm>
              <a:off x="22320" y="228600"/>
              <a:ext cx="104400" cy="2926080"/>
            </a:xfrm>
            <a:custGeom>
              <a:avLst/>
              <a:gdLst>
                <a:gd name="textAreaLeft" fmla="*/ 0 w 104400"/>
                <a:gd name="textAreaRight" fmla="*/ 106200 w 104400"/>
                <a:gd name="textAreaTop" fmla="*/ 0 h 2926080"/>
                <a:gd name="textAreaBottom" fmla="*/ 2927880 h 2926080"/>
              </a:gdLst>
              <a:ahLst/>
              <a:cxnLst/>
              <a:rect l="textAreaLeft" t="textAreaTop" r="textAreaRight" b="textAreaBottom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2200" tIns="45000" rIns="522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3" name="Freeform 17"/>
            <p:cNvSpPr/>
            <p:nvPr/>
          </p:nvSpPr>
          <p:spPr>
            <a:xfrm>
              <a:off x="78120" y="2944080"/>
              <a:ext cx="76320" cy="492120"/>
            </a:xfrm>
            <a:custGeom>
              <a:avLst/>
              <a:gdLst>
                <a:gd name="textAreaLeft" fmla="*/ 0 w 76320"/>
                <a:gd name="textAreaRight" fmla="*/ 78120 w 76320"/>
                <a:gd name="textAreaTop" fmla="*/ 0 h 492120"/>
                <a:gd name="textAreaBottom" fmla="*/ 493920 h 49212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38160" tIns="45000" rIns="381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4" name="Freeform 18"/>
            <p:cNvSpPr/>
            <p:nvPr/>
          </p:nvSpPr>
          <p:spPr>
            <a:xfrm>
              <a:off x="769680" y="5478840"/>
              <a:ext cx="188280" cy="1023120"/>
            </a:xfrm>
            <a:custGeom>
              <a:avLst/>
              <a:gdLst>
                <a:gd name="textAreaLeft" fmla="*/ 0 w 188280"/>
                <a:gd name="textAreaRight" fmla="*/ 190080 w 188280"/>
                <a:gd name="textAreaTop" fmla="*/ 0 h 1023120"/>
                <a:gd name="textAreaBottom" fmla="*/ 1024920 h 1023120"/>
              </a:gdLst>
              <a:ahLst/>
              <a:cxnLst/>
              <a:rect l="textAreaLeft" t="textAreaTop" r="textAreaRight" b="textAreaBottom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5" name="Freeform 19"/>
            <p:cNvSpPr/>
            <p:nvPr/>
          </p:nvSpPr>
          <p:spPr>
            <a:xfrm>
              <a:off x="775440" y="1398960"/>
              <a:ext cx="2074320" cy="4046400"/>
            </a:xfrm>
            <a:custGeom>
              <a:avLst/>
              <a:gdLst>
                <a:gd name="textAreaLeft" fmla="*/ 0 w 2074320"/>
                <a:gd name="textAreaRight" fmla="*/ 2076120 w 2074320"/>
                <a:gd name="textAreaTop" fmla="*/ 0 h 4046400"/>
                <a:gd name="textAreaBottom" fmla="*/ 4048200 h 4046400"/>
              </a:gdLst>
              <a:ahLst/>
              <a:cxnLst/>
              <a:rect l="textAreaLeft" t="textAreaTop" r="textAreaRight" b="textAreaBottom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6" name="Freeform 20"/>
            <p:cNvSpPr/>
            <p:nvPr/>
          </p:nvSpPr>
          <p:spPr>
            <a:xfrm>
              <a:off x="922680" y="6530040"/>
              <a:ext cx="160200" cy="335520"/>
            </a:xfrm>
            <a:custGeom>
              <a:avLst/>
              <a:gdLst>
                <a:gd name="textAreaLeft" fmla="*/ 0 w 160200"/>
                <a:gd name="textAreaRight" fmla="*/ 162000 w 160200"/>
                <a:gd name="textAreaTop" fmla="*/ 0 h 335520"/>
                <a:gd name="textAreaBottom" fmla="*/ 337320 h 335520"/>
              </a:gdLst>
              <a:ahLst/>
              <a:cxnLst/>
              <a:rect l="textAreaLeft" t="textAreaTop" r="textAreaRight" b="textAreaBottom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0280" tIns="45000" rIns="8028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7" name="Freeform 21"/>
            <p:cNvSpPr/>
            <p:nvPr/>
          </p:nvSpPr>
          <p:spPr>
            <a:xfrm>
              <a:off x="769680" y="5359320"/>
              <a:ext cx="35640" cy="219960"/>
            </a:xfrm>
            <a:custGeom>
              <a:avLst/>
              <a:gdLst>
                <a:gd name="textAreaLeft" fmla="*/ 0 w 35640"/>
                <a:gd name="textAreaRight" fmla="*/ 37440 w 35640"/>
                <a:gd name="textAreaTop" fmla="*/ 0 h 219960"/>
                <a:gd name="textAreaBottom" fmla="*/ 221760 h 21996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000" tIns="45000" rIns="18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8" name="Freeform 22"/>
            <p:cNvSpPr/>
            <p:nvPr/>
          </p:nvSpPr>
          <p:spPr>
            <a:xfrm>
              <a:off x="849960" y="6244560"/>
              <a:ext cx="236880" cy="620640"/>
            </a:xfrm>
            <a:custGeom>
              <a:avLst/>
              <a:gdLst>
                <a:gd name="textAreaLeft" fmla="*/ 0 w 236880"/>
                <a:gd name="textAreaRight" fmla="*/ 238680 w 236880"/>
                <a:gd name="textAreaTop" fmla="*/ 0 h 620640"/>
                <a:gd name="textAreaBottom" fmla="*/ 622440 h 620640"/>
              </a:gdLst>
              <a:ahLst/>
              <a:cxnLst/>
              <a:rect l="textAreaLeft" t="textAreaTop" r="textAreaRight" b="textAreaBottom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dk2">
                <a:alpha val="20000"/>
              </a:schemeClr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19" name="Group 9"/>
          <p:cNvGrpSpPr/>
          <p:nvPr/>
        </p:nvGrpSpPr>
        <p:grpSpPr>
          <a:xfrm>
            <a:off x="27360" y="-720"/>
            <a:ext cx="2354760" cy="6852240"/>
            <a:chOff x="27360" y="-720"/>
            <a:chExt cx="2354760" cy="6852240"/>
          </a:xfrm>
        </p:grpSpPr>
        <p:sp>
          <p:nvSpPr>
            <p:cNvPr id="520" name="Freeform 27"/>
            <p:cNvSpPr/>
            <p:nvPr/>
          </p:nvSpPr>
          <p:spPr>
            <a:xfrm>
              <a:off x="27360" y="-720"/>
              <a:ext cx="492480" cy="4399200"/>
            </a:xfrm>
            <a:custGeom>
              <a:avLst/>
              <a:gdLst>
                <a:gd name="textAreaLeft" fmla="*/ 0 w 492480"/>
                <a:gd name="textAreaRight" fmla="*/ 494280 w 492480"/>
                <a:gd name="textAreaTop" fmla="*/ 0 h 4399200"/>
                <a:gd name="textAreaBottom" fmla="*/ 4401000 h 4399200"/>
              </a:gdLst>
              <a:ahLst/>
              <a:cxnLst/>
              <a:rect l="textAreaLeft" t="textAreaTop" r="textAreaRight" b="textAreaBottom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1" name="Freeform 28"/>
            <p:cNvSpPr/>
            <p:nvPr/>
          </p:nvSpPr>
          <p:spPr>
            <a:xfrm>
              <a:off x="550440" y="4316400"/>
              <a:ext cx="421560" cy="1578960"/>
            </a:xfrm>
            <a:custGeom>
              <a:avLst/>
              <a:gdLst>
                <a:gd name="textAreaLeft" fmla="*/ 0 w 421560"/>
                <a:gd name="textAreaRight" fmla="*/ 423360 w 421560"/>
                <a:gd name="textAreaTop" fmla="*/ 0 h 1578960"/>
                <a:gd name="textAreaBottom" fmla="*/ 1580760 h 1578960"/>
              </a:gdLst>
              <a:ahLst/>
              <a:cxnLst/>
              <a:rect l="textAreaLeft" t="textAreaTop" r="textAreaRight" b="textAreaBottom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2" name="Freeform 29"/>
            <p:cNvSpPr/>
            <p:nvPr/>
          </p:nvSpPr>
          <p:spPr>
            <a:xfrm>
              <a:off x="1006200" y="5862600"/>
              <a:ext cx="429120" cy="988920"/>
            </a:xfrm>
            <a:custGeom>
              <a:avLst/>
              <a:gdLst>
                <a:gd name="textAreaLeft" fmla="*/ 0 w 429120"/>
                <a:gd name="textAreaRight" fmla="*/ 430920 w 429120"/>
                <a:gd name="textAreaTop" fmla="*/ 0 h 988920"/>
                <a:gd name="textAreaBottom" fmla="*/ 990720 h 988920"/>
              </a:gdLst>
              <a:ahLst/>
              <a:cxnLst/>
              <a:rect l="textAreaLeft" t="textAreaTop" r="textAreaRight" b="textAreaBottom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3" name="Freeform 30"/>
            <p:cNvSpPr/>
            <p:nvPr/>
          </p:nvSpPr>
          <p:spPr>
            <a:xfrm>
              <a:off x="521640" y="4364280"/>
              <a:ext cx="550080" cy="2234160"/>
            </a:xfrm>
            <a:custGeom>
              <a:avLst/>
              <a:gdLst>
                <a:gd name="textAreaLeft" fmla="*/ 0 w 550080"/>
                <a:gd name="textAreaRight" fmla="*/ 551880 w 550080"/>
                <a:gd name="textAreaTop" fmla="*/ 0 h 2234160"/>
                <a:gd name="textAreaBottom" fmla="*/ 2235960 h 2234160"/>
              </a:gdLst>
              <a:ahLst/>
              <a:cxnLst/>
              <a:rect l="textAreaLeft" t="textAreaTop" r="textAreaRight" b="textAreaBottom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4" name="Freeform 31"/>
            <p:cNvSpPr/>
            <p:nvPr/>
          </p:nvSpPr>
          <p:spPr>
            <a:xfrm>
              <a:off x="468000" y="1289160"/>
              <a:ext cx="172440" cy="3025440"/>
            </a:xfrm>
            <a:custGeom>
              <a:avLst/>
              <a:gdLst>
                <a:gd name="textAreaLeft" fmla="*/ 0 w 172440"/>
                <a:gd name="textAreaRight" fmla="*/ 174240 w 172440"/>
                <a:gd name="textAreaTop" fmla="*/ 0 h 3025440"/>
                <a:gd name="textAreaBottom" fmla="*/ 3027240 h 3025440"/>
              </a:gdLst>
              <a:ahLst/>
              <a:cxnLst/>
              <a:rect l="textAreaLeft" t="textAreaTop" r="textAreaRight" b="textAreaBottom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86400" tIns="45000" rIns="86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5" name="Freeform 32"/>
            <p:cNvSpPr/>
            <p:nvPr/>
          </p:nvSpPr>
          <p:spPr>
            <a:xfrm>
              <a:off x="1111680" y="6571440"/>
              <a:ext cx="132480" cy="279720"/>
            </a:xfrm>
            <a:custGeom>
              <a:avLst/>
              <a:gdLst>
                <a:gd name="textAreaLeft" fmla="*/ 0 w 132480"/>
                <a:gd name="textAreaRight" fmla="*/ 134280 w 132480"/>
                <a:gd name="textAreaTop" fmla="*/ 0 h 279720"/>
                <a:gd name="textAreaBottom" fmla="*/ 281520 h 279720"/>
              </a:gdLst>
              <a:ahLst/>
              <a:cxnLst/>
              <a:rect l="textAreaLeft" t="textAreaTop" r="textAreaRight" b="textAreaBottom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6240" tIns="45000" rIns="662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6" name="Freeform 33"/>
            <p:cNvSpPr/>
            <p:nvPr/>
          </p:nvSpPr>
          <p:spPr>
            <a:xfrm>
              <a:off x="502560" y="4107600"/>
              <a:ext cx="80640" cy="509760"/>
            </a:xfrm>
            <a:custGeom>
              <a:avLst/>
              <a:gdLst>
                <a:gd name="textAreaLeft" fmla="*/ 0 w 80640"/>
                <a:gd name="textAreaRight" fmla="*/ 82440 w 80640"/>
                <a:gd name="textAreaTop" fmla="*/ 0 h 509760"/>
                <a:gd name="textAreaBottom" fmla="*/ 511560 h 509760"/>
              </a:gdLst>
              <a:ahLst/>
              <a:cxnLst/>
              <a:rect l="textAreaLeft" t="textAreaTop" r="textAreaRight" b="textAreaBottom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40320" tIns="45000" rIns="4032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7" name="Freeform 34"/>
            <p:cNvSpPr/>
            <p:nvPr/>
          </p:nvSpPr>
          <p:spPr>
            <a:xfrm>
              <a:off x="973800" y="3145680"/>
              <a:ext cx="1408320" cy="2715120"/>
            </a:xfrm>
            <a:custGeom>
              <a:avLst/>
              <a:gdLst>
                <a:gd name="textAreaLeft" fmla="*/ 0 w 1408320"/>
                <a:gd name="textAreaRight" fmla="*/ 1410120 w 1408320"/>
                <a:gd name="textAreaTop" fmla="*/ 0 h 2715120"/>
                <a:gd name="textAreaBottom" fmla="*/ 2716920 h 2715120"/>
              </a:gdLst>
              <a:ahLst/>
              <a:cxnLst/>
              <a:rect l="textAreaLeft" t="textAreaTop" r="textAreaRight" b="textAreaBottom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8" name="Freeform 35"/>
            <p:cNvSpPr/>
            <p:nvPr/>
          </p:nvSpPr>
          <p:spPr>
            <a:xfrm>
              <a:off x="1073520" y="6600240"/>
              <a:ext cx="118800" cy="251280"/>
            </a:xfrm>
            <a:custGeom>
              <a:avLst/>
              <a:gdLst>
                <a:gd name="textAreaLeft" fmla="*/ 0 w 118800"/>
                <a:gd name="textAreaRight" fmla="*/ 120600 w 118800"/>
                <a:gd name="textAreaTop" fmla="*/ 0 h 251280"/>
                <a:gd name="textAreaBottom" fmla="*/ 253080 h 251280"/>
              </a:gdLst>
              <a:ahLst/>
              <a:cxnLst/>
              <a:rect l="textAreaLeft" t="textAreaTop" r="textAreaRight" b="textAreaBottom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9400" tIns="45000" rIns="594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9" name="Freeform 36"/>
            <p:cNvSpPr/>
            <p:nvPr/>
          </p:nvSpPr>
          <p:spPr>
            <a:xfrm>
              <a:off x="973800" y="5897160"/>
              <a:ext cx="136080" cy="672480"/>
            </a:xfrm>
            <a:custGeom>
              <a:avLst/>
              <a:gdLst>
                <a:gd name="textAreaLeft" fmla="*/ 0 w 136080"/>
                <a:gd name="textAreaRight" fmla="*/ 137880 w 136080"/>
                <a:gd name="textAreaTop" fmla="*/ 0 h 672480"/>
                <a:gd name="textAreaBottom" fmla="*/ 674280 h 672480"/>
              </a:gdLst>
              <a:ahLst/>
              <a:cxnLst/>
              <a:rect l="textAreaLeft" t="textAreaTop" r="textAreaRight" b="textAreaBottom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68040" tIns="45000" rIns="6804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0" name="Freeform 37"/>
            <p:cNvSpPr/>
            <p:nvPr/>
          </p:nvSpPr>
          <p:spPr>
            <a:xfrm>
              <a:off x="973800" y="5772600"/>
              <a:ext cx="36360" cy="226080"/>
            </a:xfrm>
            <a:custGeom>
              <a:avLst/>
              <a:gdLst>
                <a:gd name="textAreaLeft" fmla="*/ 0 w 36360"/>
                <a:gd name="textAreaRight" fmla="*/ 38160 w 36360"/>
                <a:gd name="textAreaTop" fmla="*/ 0 h 226080"/>
                <a:gd name="textAreaBottom" fmla="*/ 227880 h 226080"/>
              </a:gdLst>
              <a:ahLst/>
              <a:cxnLst/>
              <a:rect l="textAreaLeft" t="textAreaTop" r="textAreaRight" b="textAreaBottom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18360" tIns="45000" rIns="1836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1" name="Freeform 38"/>
            <p:cNvSpPr/>
            <p:nvPr/>
          </p:nvSpPr>
          <p:spPr>
            <a:xfrm>
              <a:off x="1006200" y="6322680"/>
              <a:ext cx="208800" cy="528840"/>
            </a:xfrm>
            <a:custGeom>
              <a:avLst/>
              <a:gdLst>
                <a:gd name="textAreaLeft" fmla="*/ 0 w 208800"/>
                <a:gd name="textAreaRight" fmla="*/ 210600 w 208800"/>
                <a:gd name="textAreaTop" fmla="*/ 0 h 528840"/>
                <a:gd name="textAreaBottom" fmla="*/ 530640 h 528840"/>
              </a:gdLst>
              <a:ahLst/>
              <a:cxnLst/>
              <a:rect l="textAreaLeft" t="textAreaTop" r="textAreaRight" b="textAreaBottom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t">
              <a:noAutofit/>
            </a:bodyPr>
            <a:p>
              <a:endParaRPr lang="es-E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32" name="Rectangle 6"/>
          <p:cNvSpPr/>
          <p:nvPr/>
        </p:nvSpPr>
        <p:spPr>
          <a:xfrm>
            <a:off x="0" y="0"/>
            <a:ext cx="181080" cy="6856200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outerShdw blurRad="38160" dir="5400000" dist="2556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PlaceHolder 1"/>
          <p:cNvSpPr>
            <a:spLocks noGrp="1"/>
          </p:cNvSpPr>
          <p:nvPr>
            <p:ph type="title"/>
          </p:nvPr>
        </p:nvSpPr>
        <p:spPr>
          <a:xfrm>
            <a:off x="2589120" y="4800600"/>
            <a:ext cx="8913600" cy="56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s-E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Haga clic para modificar el estilo de título del patrón</a:t>
            </a:r>
            <a:endParaRPr lang="es-E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4" name="PlaceHolder 2"/>
          <p:cNvSpPr>
            <a:spLocks noGrp="1"/>
          </p:cNvSpPr>
          <p:nvPr>
            <p:ph type="body"/>
          </p:nvPr>
        </p:nvSpPr>
        <p:spPr>
          <a:xfrm>
            <a:off x="2589120" y="635040"/>
            <a:ext cx="8913600" cy="3853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s-ES" sz="16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Haga clic en el icono para agregar una imagen</a:t>
            </a:r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5" name="PlaceHolder 3"/>
          <p:cNvSpPr>
            <a:spLocks noGrp="1"/>
          </p:cNvSpPr>
          <p:nvPr>
            <p:ph type="body"/>
          </p:nvPr>
        </p:nvSpPr>
        <p:spPr>
          <a:xfrm>
            <a:off x="2589120" y="5367240"/>
            <a:ext cx="8913600" cy="491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2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Haga clic para modificar los estilos de texto del patrón</a:t>
            </a:r>
            <a:endParaRPr lang="es-ES" sz="12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6" name="PlaceHolder 4"/>
          <p:cNvSpPr>
            <a:spLocks noGrp="1"/>
          </p:cNvSpPr>
          <p:nvPr>
            <p:ph type="dt" idx="46"/>
          </p:nvPr>
        </p:nvSpPr>
        <p:spPr>
          <a:xfrm>
            <a:off x="10361520" y="6130440"/>
            <a:ext cx="1144440" cy="36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entury Gothic"/>
              </a:rPr>
              <a:t>&lt;fecha/hora&gt;</a:t>
            </a:r>
            <a:endParaRPr lang="es-E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PlaceHolder 5"/>
          <p:cNvSpPr>
            <a:spLocks noGrp="1"/>
          </p:cNvSpPr>
          <p:nvPr>
            <p:ph type="ftr" idx="47"/>
          </p:nvPr>
        </p:nvSpPr>
        <p:spPr>
          <a:xfrm>
            <a:off x="2589120" y="6135840"/>
            <a:ext cx="761832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E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Freeform 11"/>
          <p:cNvSpPr/>
          <p:nvPr/>
        </p:nvSpPr>
        <p:spPr>
          <a:xfrm flipV="1">
            <a:off x="-2520" y="4910400"/>
            <a:ext cx="1586880" cy="505440"/>
          </a:xfrm>
          <a:custGeom>
            <a:avLst/>
            <a:gdLst>
              <a:gd name="textAreaLeft" fmla="*/ 0 w 1586880"/>
              <a:gd name="textAreaRight" fmla="*/ 1588680 w 1586880"/>
              <a:gd name="textAreaTop" fmla="*/ 1080 h 505440"/>
              <a:gd name="textAreaBottom" fmla="*/ 508320 h 505440"/>
            </a:gdLst>
            <a:ahLst/>
            <a:cxnLst/>
            <a:rect l="textAreaLeft" t="textAreaTop" r="textAreaRight" b="textAreaBottom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6"/>
          <p:cNvSpPr>
            <a:spLocks noGrp="1"/>
          </p:cNvSpPr>
          <p:nvPr>
            <p:ph type="sldNum" idx="48"/>
          </p:nvPr>
        </p:nvSpPr>
        <p:spPr>
          <a:xfrm>
            <a:off x="531720" y="4983120"/>
            <a:ext cx="777960" cy="36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4C885E4-C9EC-4B11-920C-27B478A3ABED}" type="slidenum">
              <a:rPr lang="es-ES" sz="2000" b="0" u="none" strike="noStrike">
                <a:solidFill>
                  <a:srgbClr val="FEFFFF"/>
                </a:solidFill>
                <a:effectLst/>
                <a:uFillTx/>
                <a:latin typeface="Century Gothic"/>
              </a:rPr>
              <a:t>&lt;número&gt;</a:t>
            </a:fld>
            <a:endParaRPr lang="es-E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hyperlink" Target="https://www.kaggle.com/datasets/grandmaster07/student-exam-performance-dataset-analysis" TargetMode="External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title"/>
          </p:nvPr>
        </p:nvSpPr>
        <p:spPr>
          <a:xfrm>
            <a:off x="2589120" y="2514600"/>
            <a:ext cx="8913600" cy="22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5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Proyecto EDA – Notas de exámenes</a:t>
            </a:r>
            <a:endParaRPr lang="es-ES" sz="5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47" name="PlaceHolder 2"/>
          <p:cNvSpPr>
            <a:spLocks noGrp="1"/>
          </p:cNvSpPr>
          <p:nvPr>
            <p:ph type="subTitle"/>
          </p:nvPr>
        </p:nvSpPr>
        <p:spPr>
          <a:xfrm>
            <a:off x="2589120" y="5486400"/>
            <a:ext cx="8913600" cy="41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rPr>
              <a:t>Hector Yustos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Hipótesis planteadas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2589120" y="2133720"/>
            <a:ext cx="8913600" cy="109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25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Principal:</a:t>
            </a:r>
            <a:endParaRPr lang="es-ES" sz="25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25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“Los estudiantes con una buena organización de estudio tienen más probabilidades de sacar mejor nota”</a:t>
            </a:r>
            <a:endParaRPr lang="es-ES" sz="25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0" name="Marcador de contenido 2"/>
          <p:cNvSpPr/>
          <p:nvPr/>
        </p:nvSpPr>
        <p:spPr>
          <a:xfrm>
            <a:off x="2580840" y="4399920"/>
            <a:ext cx="8913600" cy="14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25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Subhipótesis: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25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“La importancia de la motivación de un estudiante a la hora de la nota final”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7" dur="800"/>
                                        <p:tgtEl>
                                          <p:spTgt spid="5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8" presetClass="entr" fill="hold" nodeType="with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10" dur="800"/>
                                        <p:tgtEl>
                                          <p:spTgt spid="5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8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15" dur="20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Consideraciones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2593080" y="1751040"/>
            <a:ext cx="8913600" cy="766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343080" indent="-34308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Fuente: </a:t>
            </a:r>
            <a:r>
              <a:rPr lang="es-ES" sz="1800" b="0" u="sng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  <a:hlinkClick r:id="rId1"/>
              </a:rPr>
              <a:t>https://www.kaggle.com/datasets/grandmaster07/student-exam-performance-dataset-analysis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3" name="Marcador de contenido 2"/>
          <p:cNvSpPr/>
          <p:nvPr/>
        </p:nvSpPr>
        <p:spPr>
          <a:xfrm>
            <a:off x="2589120" y="2518560"/>
            <a:ext cx="8913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34308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Manteniendo la privacidad del estudio y los estudiantes, estos son los datos que se pueden revelar: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Marcador de contenido 2"/>
          <p:cNvSpPr/>
          <p:nvPr/>
        </p:nvSpPr>
        <p:spPr>
          <a:xfrm>
            <a:off x="2523960" y="3280320"/>
            <a:ext cx="8913600" cy="38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743040" lvl="1" indent="-28584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Prestigiosa universidad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Marcador de contenido 2"/>
          <p:cNvSpPr/>
          <p:nvPr/>
        </p:nvSpPr>
        <p:spPr>
          <a:xfrm>
            <a:off x="2523960" y="3738600"/>
            <a:ext cx="5695920" cy="111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743040" lvl="1" indent="-28584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Estudiantes de una asignatura en particular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Marcador de contenido 2"/>
          <p:cNvSpPr/>
          <p:nvPr/>
        </p:nvSpPr>
        <p:spPr>
          <a:xfrm>
            <a:off x="2523960" y="5125320"/>
            <a:ext cx="8913600" cy="132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743040" lvl="1" indent="-28584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Evaluación mediante el examen final de la asignatura (variable principal)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001"/>
              </a:spcBef>
            </a:pP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Marcador de contenido 2"/>
          <p:cNvSpPr/>
          <p:nvPr/>
        </p:nvSpPr>
        <p:spPr>
          <a:xfrm>
            <a:off x="-2252520" y="4363560"/>
            <a:ext cx="891360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8" name="Marcador de contenido 2"/>
          <p:cNvSpPr/>
          <p:nvPr/>
        </p:nvSpPr>
        <p:spPr>
          <a:xfrm>
            <a:off x="2523960" y="4363560"/>
            <a:ext cx="5306400" cy="93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743040" lvl="1" indent="-28584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Seguimiento durante todo el cuatrimestre de sus hábitos de estudio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Marcador de contenido 2"/>
          <p:cNvSpPr/>
          <p:nvPr/>
        </p:nvSpPr>
        <p:spPr>
          <a:xfrm>
            <a:off x="6878880" y="3786120"/>
            <a:ext cx="5246640" cy="6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endParaRPr lang="es-ES" sz="16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60" name=""/>
          <p:cNvSpPr/>
          <p:nvPr/>
        </p:nvSpPr>
        <p:spPr>
          <a:xfrm>
            <a:off x="7975440" y="4410720"/>
            <a:ext cx="1514520" cy="413640"/>
          </a:xfrm>
          <a:prstGeom prst="rightArrow">
            <a:avLst>
              <a:gd name="adj1" fmla="val 50000"/>
              <a:gd name="adj2" fmla="val 91363"/>
            </a:avLst>
          </a:prstGeom>
          <a:solidFill>
            <a:srgbClr val="C9211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1" name="Marcador de contenido 1"/>
          <p:cNvSpPr/>
          <p:nvPr/>
        </p:nvSpPr>
        <p:spPr>
          <a:xfrm>
            <a:off x="9279360" y="4410720"/>
            <a:ext cx="2056320" cy="6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457200" algn="just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20 </a:t>
            </a: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variables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7984080" y="3668760"/>
            <a:ext cx="1495080" cy="413640"/>
          </a:xfrm>
          <a:prstGeom prst="rightArrow">
            <a:avLst>
              <a:gd name="adj1" fmla="val 50000"/>
              <a:gd name="adj2" fmla="val 90191"/>
            </a:avLst>
          </a:prstGeom>
          <a:solidFill>
            <a:srgbClr val="C9211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Marcador de contenido 4"/>
          <p:cNvSpPr/>
          <p:nvPr/>
        </p:nvSpPr>
        <p:spPr>
          <a:xfrm>
            <a:off x="9304920" y="3668760"/>
            <a:ext cx="2191680" cy="60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457200" defTabSz="4572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s-ES" sz="16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6.607 alumnos</a:t>
            </a:r>
            <a:endParaRPr lang="es-E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64" name=""/>
          <p:cNvGraphicFramePr/>
          <p:nvPr/>
        </p:nvGraphicFramePr>
        <p:xfrm>
          <a:off x="4219560" y="5716800"/>
          <a:ext cx="5075280" cy="69336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Nota Mínima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Nota Máxima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12240">
                      <a:noFill/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</a:tr>
              <a:tr h="346320"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55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108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  <a:tc>
                  <a:txBody>
                    <a:bodyPr lIns="36000" tIns="36000" rIns="36000" b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6" dur="indefinite" restart="never" nodeType="tmRoot">
          <p:childTnLst>
            <p:seq>
              <p:cTn id="17" dur="indefinite" nodeType="mainSeq">
                <p:childTnLst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8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22" dur="2000"/>
                                        <p:tgtEl>
                                          <p:spTgt spid="5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fill="hold" nodeType="clickEffect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7" dur="500" fill="hold"/>
                                        <p:tgtEl>
                                          <p:spTgt spid="5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8" dur="500" fill="hold"/>
                                        <p:tgtEl>
                                          <p:spTgt spid="5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fill="hold" nodeType="clickEffect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3" dur="500" fill="hold"/>
                                        <p:tgtEl>
                                          <p:spTgt spid="5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4" dur="500" fill="hold"/>
                                        <p:tgtEl>
                                          <p:spTgt spid="5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39" dur="500"/>
                                        <p:tgtEl>
                                          <p:spTgt spid="5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" presetClass="entr" fill="hold" nodeType="afterEffect" presetSubtype="4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3" dur="500" fill="hold"/>
                                        <p:tgtEl>
                                          <p:spTgt spid="5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4" dur="500" fill="hold"/>
                                        <p:tgtEl>
                                          <p:spTgt spid="5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fill="hold" nodeType="clickEffect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9" dur="500" fill="hold"/>
                                        <p:tgtEl>
                                          <p:spTgt spid="5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0" dur="500" fill="hold"/>
                                        <p:tgtEl>
                                          <p:spTgt spid="5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55" dur="500"/>
                                        <p:tgtEl>
                                          <p:spTgt spid="5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2" presetClass="entr" fill="hold" nodeType="afterEffect" presetSubtype="4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59" dur="500" fill="hold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0" dur="500" fill="hold"/>
                                        <p:tgtEl>
                                          <p:spTgt spid="5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fill="hold" nodeType="clickEffect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65" dur="500" fill="hold"/>
                                        <p:tgtEl>
                                          <p:spTgt spid="5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66" dur="500" fill="hold"/>
                                        <p:tgtEl>
                                          <p:spTgt spid="5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71" dur="125"/>
                                        <p:tgtEl>
                                          <p:spTgt spid="5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127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Consideraciones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566" name="Imagen 13"/>
          <p:cNvPicPr/>
          <p:nvPr/>
        </p:nvPicPr>
        <p:blipFill>
          <a:blip r:embed="rId1"/>
          <a:stretch/>
        </p:blipFill>
        <p:spPr>
          <a:xfrm>
            <a:off x="3639960" y="1670040"/>
            <a:ext cx="7187760" cy="431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CuadroTexto 14"/>
          <p:cNvSpPr/>
          <p:nvPr/>
        </p:nvSpPr>
        <p:spPr>
          <a:xfrm>
            <a:off x="6270120" y="6190920"/>
            <a:ext cx="2290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Exam Score (0-100)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CuadroTexto 15"/>
          <p:cNvSpPr/>
          <p:nvPr/>
        </p:nvSpPr>
        <p:spPr>
          <a:xfrm rot="16200000">
            <a:off x="2487240" y="3324600"/>
            <a:ext cx="1107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Student quantity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72" dur="indefinite" restart="never" nodeType="tmRoot">
          <p:childTnLst>
            <p:seq>
              <p:cTn id="73" dur="indefinite" nodeType="mainSeq">
                <p:childTnLst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78" dur="500"/>
                                        <p:tgtEl>
                                          <p:spTgt spid="5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6" presetClass="entr" fill="hold" nodeType="afterEffect" presetSubtype="16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 additive="repl">
                                        <p:cTn id="82" dur="500"/>
                                        <p:tgtEl>
                                          <p:spTgt spid="5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1500"/>
                            </p:stCondLst>
                            <p:childTnLst>
                              <p:par>
                                <p:cTn id="84" presetID="6" presetClass="entr" fill="hold" nodeType="afterEffect" presetSubtype="16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 additive="repl">
                                        <p:cTn id="86" dur="500"/>
                                        <p:tgtEl>
                                          <p:spTgt spid="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8910000" cy="77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Hipótesis principal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70" name="PlaceHolder 2"/>
          <p:cNvSpPr>
            <a:spLocks noGrp="1"/>
          </p:cNvSpPr>
          <p:nvPr>
            <p:ph/>
          </p:nvPr>
        </p:nvSpPr>
        <p:spPr>
          <a:xfrm>
            <a:off x="2601720" y="1898640"/>
            <a:ext cx="8913600" cy="377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“Los estudiantes con una buena organización de estudio tienen más probabilidades de sacar mejor nota”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71" name="CuadroTexto 4"/>
          <p:cNvSpPr/>
          <p:nvPr/>
        </p:nvSpPr>
        <p:spPr>
          <a:xfrm>
            <a:off x="2764800" y="2899080"/>
            <a:ext cx="1743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Hours Studied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CuadroTexto 5"/>
          <p:cNvSpPr/>
          <p:nvPr/>
        </p:nvSpPr>
        <p:spPr>
          <a:xfrm>
            <a:off x="3157920" y="3672360"/>
            <a:ext cx="155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Attendance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CuadroTexto 6"/>
          <p:cNvSpPr/>
          <p:nvPr/>
        </p:nvSpPr>
        <p:spPr>
          <a:xfrm>
            <a:off x="5563800" y="2799000"/>
            <a:ext cx="155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Parental Involvement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CuadroTexto 7"/>
          <p:cNvSpPr/>
          <p:nvPr/>
        </p:nvSpPr>
        <p:spPr>
          <a:xfrm>
            <a:off x="8382600" y="2846520"/>
            <a:ext cx="155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Access to Resources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CuadroTexto 8"/>
          <p:cNvSpPr/>
          <p:nvPr/>
        </p:nvSpPr>
        <p:spPr>
          <a:xfrm>
            <a:off x="9484200" y="5388120"/>
            <a:ext cx="17942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Extracurricular Activities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CuadroTexto 9"/>
          <p:cNvSpPr/>
          <p:nvPr/>
        </p:nvSpPr>
        <p:spPr>
          <a:xfrm>
            <a:off x="3067560" y="4658760"/>
            <a:ext cx="15534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Sleep Hours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CuadroTexto 10"/>
          <p:cNvSpPr/>
          <p:nvPr/>
        </p:nvSpPr>
        <p:spPr>
          <a:xfrm>
            <a:off x="5295960" y="4074120"/>
            <a:ext cx="12664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Internet Access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CuadroTexto 11"/>
          <p:cNvSpPr/>
          <p:nvPr/>
        </p:nvSpPr>
        <p:spPr>
          <a:xfrm>
            <a:off x="5318280" y="5654520"/>
            <a:ext cx="155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Tutoring Sessions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CuadroTexto 12"/>
          <p:cNvSpPr/>
          <p:nvPr/>
        </p:nvSpPr>
        <p:spPr>
          <a:xfrm>
            <a:off x="7140960" y="4207320"/>
            <a:ext cx="13572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Teacher Quality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CuadroTexto 13"/>
          <p:cNvSpPr/>
          <p:nvPr/>
        </p:nvSpPr>
        <p:spPr>
          <a:xfrm>
            <a:off x="3466440" y="5416560"/>
            <a:ext cx="14335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Physical Activity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CuadroTexto 14"/>
          <p:cNvSpPr/>
          <p:nvPr/>
        </p:nvSpPr>
        <p:spPr>
          <a:xfrm>
            <a:off x="7426440" y="5288040"/>
            <a:ext cx="155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Learning Disabilities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CuadroTexto 15"/>
          <p:cNvSpPr/>
          <p:nvPr/>
        </p:nvSpPr>
        <p:spPr>
          <a:xfrm>
            <a:off x="8989200" y="4108680"/>
            <a:ext cx="17942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8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Distance from Home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87" dur="indefinite" restart="never" nodeType="tmRoot">
          <p:childTnLst>
            <p:seq>
              <p:cTn id="88" dur="indefinite" nodeType="mainSeq">
                <p:childTnLst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8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93" dur="2000"/>
                                        <p:tgtEl>
                                          <p:spTgt spid="5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1"/>
                            </p:stCondLst>
                            <p:childTnLst>
                              <p:par>
                                <p:cTn id="99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202"/>
                            </p:stCondLst>
                            <p:childTnLst>
                              <p:par>
                                <p:cTn id="102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403"/>
                            </p:stCondLst>
                            <p:childTnLst>
                              <p:par>
                                <p:cTn id="105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604"/>
                            </p:stCondLst>
                            <p:childTnLst>
                              <p:par>
                                <p:cTn id="108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805"/>
                            </p:stCondLst>
                            <p:childTnLst>
                              <p:par>
                                <p:cTn id="111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1006"/>
                            </p:stCondLst>
                            <p:childTnLst>
                              <p:par>
                                <p:cTn id="114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07"/>
                            </p:stCondLst>
                            <p:childTnLst>
                              <p:par>
                                <p:cTn id="117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1408"/>
                            </p:stCondLst>
                            <p:childTnLst>
                              <p:par>
                                <p:cTn id="120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1609"/>
                            </p:stCondLst>
                            <p:childTnLst>
                              <p:par>
                                <p:cTn id="123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1810"/>
                            </p:stCondLst>
                            <p:childTnLst>
                              <p:par>
                                <p:cTn id="126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2011"/>
                            </p:stCondLst>
                            <p:childTnLst>
                              <p:par>
                                <p:cTn id="129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3" name="Imagen 11"/>
          <p:cNvPicPr/>
          <p:nvPr/>
        </p:nvPicPr>
        <p:blipFill>
          <a:blip r:embed="rId1"/>
          <a:stretch/>
        </p:blipFill>
        <p:spPr>
          <a:xfrm>
            <a:off x="2348280" y="643320"/>
            <a:ext cx="8372520" cy="564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4" name=""/>
          <p:cNvSpPr/>
          <p:nvPr/>
        </p:nvSpPr>
        <p:spPr>
          <a:xfrm>
            <a:off x="9231480" y="707760"/>
            <a:ext cx="1431000" cy="838080"/>
          </a:xfrm>
          <a:prstGeom prst="ellipse">
            <a:avLst/>
          </a:prstGeom>
          <a:gradFill rotWithShape="0">
            <a:gsLst>
              <a:gs pos="0">
                <a:srgbClr val="B4C7DC"/>
              </a:gs>
              <a:gs pos="100000">
                <a:srgbClr val="FFD7D7"/>
              </a:gs>
            </a:gsLst>
            <a:path path="rect">
              <a:fillToRect l="50000" t="50000" r="50000" b="50000"/>
            </a:path>
          </a:gra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IC=0,45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31" dur="indefinite" restart="never" nodeType="tmRoot">
          <p:childTnLst>
            <p:seq>
              <p:cTn id="132" dur="indefinite" nodeType="mainSeq">
                <p:childTnLst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37" dur="500"/>
                                        <p:tgtEl>
                                          <p:spTgt spid="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6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 additive="repl">
                                        <p:cTn id="142" dur="2000"/>
                                        <p:tgtEl>
                                          <p:spTgt spid="5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Imagen 11"/>
          <p:cNvPicPr/>
          <p:nvPr/>
        </p:nvPicPr>
        <p:blipFill>
          <a:blip r:embed="rId1"/>
          <a:stretch/>
        </p:blipFill>
        <p:spPr>
          <a:xfrm>
            <a:off x="2302920" y="570240"/>
            <a:ext cx="8431560" cy="568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6" name=""/>
          <p:cNvSpPr/>
          <p:nvPr/>
        </p:nvSpPr>
        <p:spPr>
          <a:xfrm>
            <a:off x="9252720" y="621000"/>
            <a:ext cx="1431000" cy="838080"/>
          </a:xfrm>
          <a:prstGeom prst="ellipse">
            <a:avLst/>
          </a:prstGeom>
          <a:gradFill rotWithShape="0">
            <a:gsLst>
              <a:gs pos="0">
                <a:srgbClr val="B4C7DC"/>
              </a:gs>
              <a:gs pos="100000">
                <a:srgbClr val="FFD7D7"/>
              </a:gs>
            </a:gsLst>
            <a:path path="rect">
              <a:fillToRect l="50000" t="50000" r="50000" b="50000"/>
            </a:path>
          </a:gra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IC=0,58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43" dur="indefinite" restart="never" nodeType="tmRoot">
          <p:childTnLst>
            <p:seq>
              <p:cTn id="144" dur="indefinite" nodeType="mainSeq">
                <p:childTnLst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49" dur="500"/>
                                        <p:tgtEl>
                                          <p:spTgt spid="5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6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 additive="repl">
                                        <p:cTn id="154" dur="2000"/>
                                        <p:tgtEl>
                                          <p:spTgt spid="5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7" name="Marcador de contenido 6"/>
          <p:cNvPicPr/>
          <p:nvPr/>
        </p:nvPicPr>
        <p:blipFill>
          <a:blip r:embed="rId1"/>
          <a:stretch/>
        </p:blipFill>
        <p:spPr>
          <a:xfrm>
            <a:off x="2378880" y="609840"/>
            <a:ext cx="8361720" cy="56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8" name=""/>
          <p:cNvSpPr/>
          <p:nvPr/>
        </p:nvSpPr>
        <p:spPr>
          <a:xfrm>
            <a:off x="9253080" y="621000"/>
            <a:ext cx="1431000" cy="838080"/>
          </a:xfrm>
          <a:prstGeom prst="ellipse">
            <a:avLst/>
          </a:prstGeom>
          <a:gradFill rotWithShape="0">
            <a:gsLst>
              <a:gs pos="0">
                <a:srgbClr val="B4C7DC"/>
              </a:gs>
              <a:gs pos="100000">
                <a:srgbClr val="FFD7D7"/>
              </a:gs>
            </a:gsLst>
            <a:path path="rect">
              <a:fillToRect l="50000" t="50000" r="50000" b="50000"/>
            </a:path>
          </a:gra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IC=0,16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55" dur="indefinite" restart="never" nodeType="tmRoot">
          <p:childTnLst>
            <p:seq>
              <p:cTn id="156" dur="indefinite" nodeType="mainSeq">
                <p:childTnLst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61" dur="500"/>
                                        <p:tgtEl>
                                          <p:spTgt spid="5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2" fill="hold">
                      <p:stCondLst>
                        <p:cond delay="indefinite"/>
                      </p:stCondLst>
                      <p:childTnLst>
                        <p:par>
                          <p:cTn id="163" fill="hold">
                            <p:stCondLst>
                              <p:cond delay="0"/>
                            </p:stCondLst>
                            <p:childTnLst>
                              <p:par>
                                <p:cTn id="164" presetID="6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 additive="repl">
                                        <p:cTn id="166" dur="2000"/>
                                        <p:tgtEl>
                                          <p:spTgt spid="5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9" name="Marcador de contenido 5"/>
          <p:cNvPicPr/>
          <p:nvPr/>
        </p:nvPicPr>
        <p:blipFill>
          <a:blip r:embed="rId1"/>
          <a:stretch/>
        </p:blipFill>
        <p:spPr>
          <a:xfrm>
            <a:off x="2252160" y="565560"/>
            <a:ext cx="8476920" cy="5720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0" name=""/>
          <p:cNvSpPr/>
          <p:nvPr/>
        </p:nvSpPr>
        <p:spPr>
          <a:xfrm>
            <a:off x="8837280" y="621000"/>
            <a:ext cx="1847160" cy="838080"/>
          </a:xfrm>
          <a:prstGeom prst="ellipse">
            <a:avLst/>
          </a:prstGeom>
          <a:gradFill rotWithShape="0">
            <a:gsLst>
              <a:gs pos="0">
                <a:srgbClr val="B4C7DC"/>
              </a:gs>
              <a:gs pos="100000">
                <a:srgbClr val="FFD7D7"/>
              </a:gs>
            </a:gsLst>
            <a:path path="rect">
              <a:fillToRect l="50000" t="50000" r="50000" b="50000"/>
            </a:path>
          </a:gra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IC=-0,0</a:t>
            </a:r>
            <a:r>
              <a:rPr lang="es-E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</a:t>
            </a: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67" dur="indefinite" restart="never" nodeType="tmRoot">
          <p:childTnLst>
            <p:seq>
              <p:cTn id="168" dur="indefinite" nodeType="mainSeq">
                <p:childTnLst>
                  <p:par>
                    <p:cTn id="169" fill="hold">
                      <p:stCondLst>
                        <p:cond delay="indefinite"/>
                      </p:stCondLst>
                      <p:childTnLst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73" dur="500"/>
                                        <p:tgtEl>
                                          <p:spTgt spid="5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4" fill="hold">
                      <p:stCondLst>
                        <p:cond delay="indefinite"/>
                      </p:stCondLst>
                      <p:childTnLst>
                        <p:par>
                          <p:cTn id="175" fill="hold">
                            <p:stCondLst>
                              <p:cond delay="0"/>
                            </p:stCondLst>
                            <p:childTnLst>
                              <p:par>
                                <p:cTn id="176" presetID="6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 additive="repl">
                                        <p:cTn id="178" dur="2000"/>
                                        <p:tgtEl>
                                          <p:spTgt spid="5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Marcador de contenido 6"/>
          <p:cNvPicPr/>
          <p:nvPr/>
        </p:nvPicPr>
        <p:blipFill>
          <a:blip r:embed="rId1"/>
          <a:stretch/>
        </p:blipFill>
        <p:spPr>
          <a:xfrm>
            <a:off x="2638440" y="338760"/>
            <a:ext cx="7405560" cy="6098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79" dur="indefinite" restart="never" nodeType="tmRoot">
          <p:childTnLst>
            <p:seq>
              <p:cTn id="180" dur="indefinite" nodeType="mainSeq">
                <p:childTnLst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85" dur="500"/>
                                        <p:tgtEl>
                                          <p:spTgt spid="5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4265280" cy="77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Hipótesis principal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593" name=""/>
          <p:cNvPicPr/>
          <p:nvPr/>
        </p:nvPicPr>
        <p:blipFill>
          <a:blip r:embed="rId1"/>
          <a:stretch/>
        </p:blipFill>
        <p:spPr>
          <a:xfrm>
            <a:off x="6406920" y="1676520"/>
            <a:ext cx="5564160" cy="4146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4" name=""/>
          <p:cNvPicPr/>
          <p:nvPr/>
        </p:nvPicPr>
        <p:blipFill>
          <a:blip r:embed="rId2"/>
          <a:stretch/>
        </p:blipFill>
        <p:spPr>
          <a:xfrm>
            <a:off x="516600" y="1686600"/>
            <a:ext cx="5570280" cy="4143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86" dur="indefinite" restart="never" nodeType="tmRoot">
          <p:childTnLst>
            <p:seq>
              <p:cTn id="187" dur="indefinite" nodeType="mainSeq">
                <p:childTnLst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1"/>
                            </p:stCondLst>
                            <p:childTnLst>
                              <p:par>
                                <p:cTn id="193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/>
          </p:nvPr>
        </p:nvSpPr>
        <p:spPr>
          <a:xfrm>
            <a:off x="2538360" y="2133720"/>
            <a:ext cx="8913600" cy="377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spcBef>
                <a:spcPts val="1001"/>
              </a:spcBef>
              <a:buNone/>
            </a:pP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596" name=""/>
          <p:cNvPicPr/>
          <p:nvPr/>
        </p:nvPicPr>
        <p:blipFill>
          <a:blip r:embed="rId1"/>
          <a:stretch/>
        </p:blipFill>
        <p:spPr>
          <a:xfrm>
            <a:off x="4572000" y="3548520"/>
            <a:ext cx="4028400" cy="3130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7" name=""/>
          <p:cNvPicPr/>
          <p:nvPr/>
        </p:nvPicPr>
        <p:blipFill>
          <a:blip r:embed="rId2"/>
          <a:stretch/>
        </p:blipFill>
        <p:spPr>
          <a:xfrm>
            <a:off x="7293240" y="313200"/>
            <a:ext cx="3947040" cy="311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598" name="Imagen 3"/>
          <p:cNvPicPr/>
          <p:nvPr/>
        </p:nvPicPr>
        <p:blipFill>
          <a:blip r:embed="rId3"/>
          <a:stretch/>
        </p:blipFill>
        <p:spPr>
          <a:xfrm>
            <a:off x="1957320" y="311400"/>
            <a:ext cx="3999600" cy="3142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195" dur="indefinite" restart="never" nodeType="tmRoot">
          <p:childTnLst>
            <p:seq>
              <p:cTn id="196" dur="indefinite" nodeType="mainSeq">
                <p:childTnLst>
                  <p:par>
                    <p:cTn id="197" fill="hold">
                      <p:stCondLst>
                        <p:cond delay="indefinite"/>
                      </p:stCondLst>
                      <p:childTnLst>
                        <p:par>
                          <p:cTn id="198" fill="hold">
                            <p:stCondLst>
                              <p:cond delay="0"/>
                            </p:stCondLst>
                            <p:childTnLst>
                              <p:par>
                                <p:cTn id="19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1"/>
                            </p:stCondLst>
                            <p:childTnLst>
                              <p:par>
                                <p:cTn id="202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202"/>
                            </p:stCondLst>
                            <p:childTnLst>
                              <p:par>
                                <p:cTn id="205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2938320" cy="72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Subhipótesis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2529720" y="1625760"/>
            <a:ext cx="8913600" cy="3775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“La importancia de la motivación de un estudiante a la hora de la nota final”</a:t>
            </a:r>
            <a:endParaRPr lang="es-ES" sz="18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601" name=""/>
          <p:cNvPicPr/>
          <p:nvPr/>
        </p:nvPicPr>
        <p:blipFill>
          <a:blip r:embed="rId1"/>
          <a:stretch/>
        </p:blipFill>
        <p:spPr>
          <a:xfrm>
            <a:off x="3971880" y="2404440"/>
            <a:ext cx="5967720" cy="3889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207" dur="indefinite" restart="never" nodeType="tmRoot">
          <p:childTnLst>
            <p:seq>
              <p:cTn id="208" dur="indefinite" nodeType="mainSeq">
                <p:childTnLst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8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213" dur="2000"/>
                                        <p:tgtEl>
                                          <p:spTgt spid="6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4" fill="hold">
                      <p:stCondLst>
                        <p:cond delay="indefinite"/>
                      </p:stCondLst>
                      <p:childTnLst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8" dur="500"/>
                                        <p:tgtEl>
                                          <p:spTgt spid="6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2938320" cy="72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Subhipótesis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603" name=""/>
          <p:cNvPicPr/>
          <p:nvPr/>
        </p:nvPicPr>
        <p:blipFill>
          <a:blip r:embed="rId1"/>
          <a:stretch/>
        </p:blipFill>
        <p:spPr>
          <a:xfrm>
            <a:off x="2658960" y="1404720"/>
            <a:ext cx="7837920" cy="5097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219" dur="indefinite" restart="never" nodeType="tmRoot">
          <p:childTnLst>
            <p:seq>
              <p:cTn id="220" dur="indefinite" nodeType="mainSeq">
                <p:childTnLst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23" presetID="3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5" dur="500"/>
                                        <p:tgtEl>
                                          <p:spTgt spid="6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3349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Conclusiones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2419560" y="1710720"/>
            <a:ext cx="8913600" cy="1092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25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Hipótesis Principal:</a:t>
            </a:r>
            <a:endParaRPr lang="es-ES" sz="25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  <a:p>
            <a:pPr marL="743040" lvl="1" indent="-28584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25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“Los estudiantes con una buena organización de estudio tienen más probabilidades de sacar mejor nota”</a:t>
            </a:r>
            <a:endParaRPr lang="es-ES" sz="2500" b="0" u="none" strike="noStrike">
              <a:solidFill>
                <a:schemeClr val="dk1">
                  <a:lumMod val="75000"/>
                  <a:lumOff val="2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6" name="Marcador de contenido 3"/>
          <p:cNvSpPr/>
          <p:nvPr/>
        </p:nvSpPr>
        <p:spPr>
          <a:xfrm>
            <a:off x="2343960" y="3951000"/>
            <a:ext cx="8913600" cy="14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7" name=""/>
          <p:cNvGraphicFramePr/>
          <p:nvPr/>
        </p:nvGraphicFramePr>
        <p:xfrm>
          <a:off x="4627080" y="3882960"/>
          <a:ext cx="5500080" cy="2007720"/>
        </p:xfrm>
        <a:graphic>
          <a:graphicData uri="http://schemas.openxmlformats.org/drawingml/2006/table">
            <a:tbl>
              <a:tblPr/>
              <a:tblGrid>
                <a:gridCol w="2749680"/>
                <a:gridCol w="2750760"/>
              </a:tblGrid>
              <a:tr h="21240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Nivel de afectación en la nota del examen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Índice de Correlación (IC)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12240">
                      <a:noFill/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</a:tr>
              <a:tr h="34632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Attendance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108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0,58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</a:tr>
              <a:tr h="34632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Study Hours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108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0,46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</a:tr>
              <a:tr h="34632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Tutoring Sessions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108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0,16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</a:tr>
              <a:tr h="346320"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Resto de variables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108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  <a:tc>
                  <a:txBody>
                    <a:bodyPr lIns="36000" tIns="36000" rIns="36000" bIns="360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s-E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~0</a:t>
                      </a:r>
                      <a:endParaRPr lang="es-E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gradFill rotWithShape="0">
                      <a:gsLst>
                        <a:gs pos="0">
                          <a:srgbClr val="B4C7DC"/>
                        </a:gs>
                        <a:gs pos="100000">
                          <a:srgbClr val="E16173"/>
                        </a:gs>
                      </a:gsLst>
                      <a:path path="rect">
                        <a:fillToRect l="50000" t="50000" r="50000" b="50000"/>
                      </a:path>
                    </a:gra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226" dur="indefinite" restart="never" nodeType="tmRoot">
          <p:childTnLst>
            <p:seq>
              <p:cTn id="227" dur="indefinite" nodeType="mainSeq">
                <p:childTnLst>
                  <p:par>
                    <p:cTn id="228" fill="hold">
                      <p:stCondLst>
                        <p:cond delay="indefinite"/>
                      </p:stCondLst>
                      <p:childTnLst>
                        <p:par>
                          <p:cTn id="229" fill="hold">
                            <p:stCondLst>
                              <p:cond delay="0"/>
                            </p:stCondLst>
                            <p:childTnLst>
                              <p:par>
                                <p:cTn id="230" presetID="8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232" dur="2000"/>
                                        <p:tgtEl>
                                          <p:spTgt spid="6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8" presetClass="entr" fill="hold" nodeType="with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235" dur="2000"/>
                                        <p:tgtEl>
                                          <p:spTgt spid="6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6" fill="hold">
                      <p:stCondLst>
                        <p:cond delay="indefinite"/>
                      </p:stCondLst>
                      <p:childTnLst>
                        <p:par>
                          <p:cTn id="237" fill="hold">
                            <p:stCondLst>
                              <p:cond delay="0"/>
                            </p:stCondLst>
                            <p:childTnLst>
                              <p:par>
                                <p:cTn id="238" presetID="5" presetClass="entr" fill="hold" nodeType="clickEffect" presetSubtype="1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 additive="repl">
                                        <p:cTn id="240" dur="500"/>
                                        <p:tgtEl>
                                          <p:spTgt spid="6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2593080" y="624240"/>
            <a:ext cx="3349440" cy="610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Conclusiones</a:t>
            </a:r>
            <a:endParaRPr lang="es-ES" sz="3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9" name="Marcador de contenido 7"/>
          <p:cNvSpPr/>
          <p:nvPr/>
        </p:nvSpPr>
        <p:spPr>
          <a:xfrm>
            <a:off x="2301480" y="1716120"/>
            <a:ext cx="8913600" cy="147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343080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25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Subhipótesis: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algn="just" defTabSz="457200">
              <a:lnSpc>
                <a:spcPct val="100000"/>
              </a:lnSpc>
              <a:spcBef>
                <a:spcPts val="1001"/>
              </a:spcBef>
              <a:buClr>
                <a:srgbClr val="A53010"/>
              </a:buClr>
              <a:buFont typeface="Wingdings 3" charset="2"/>
              <a:buChar char=""/>
            </a:pPr>
            <a:r>
              <a:rPr lang="es-ES" sz="25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entury Gothic"/>
              </a:rPr>
              <a:t>“La importancia de la motivación de un estudiante a la hora de la nota final”</a:t>
            </a:r>
            <a:endParaRPr lang="es-ES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"/>
          <p:cNvSpPr/>
          <p:nvPr/>
        </p:nvSpPr>
        <p:spPr>
          <a:xfrm>
            <a:off x="6307200" y="3191760"/>
            <a:ext cx="726840" cy="1361880"/>
          </a:xfrm>
          <a:prstGeom prst="downArrow">
            <a:avLst>
              <a:gd name="adj1" fmla="val 50000"/>
              <a:gd name="adj2" fmla="val 46810"/>
            </a:avLst>
          </a:prstGeom>
          <a:solidFill>
            <a:srgbClr val="C9211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1" name=""/>
          <p:cNvSpPr/>
          <p:nvPr/>
        </p:nvSpPr>
        <p:spPr>
          <a:xfrm>
            <a:off x="2734560" y="5105160"/>
            <a:ext cx="2682720" cy="11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ES" sz="3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Nivel de Motivación</a:t>
            </a:r>
            <a:endParaRPr lang="es-ES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"/>
          <p:cNvSpPr/>
          <p:nvPr/>
        </p:nvSpPr>
        <p:spPr>
          <a:xfrm>
            <a:off x="8373600" y="5055120"/>
            <a:ext cx="2395080" cy="11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ES" sz="35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Nota del Examen</a:t>
            </a:r>
            <a:endParaRPr lang="es-ES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8796960" y="3191760"/>
            <a:ext cx="726840" cy="1361880"/>
          </a:xfrm>
          <a:prstGeom prst="downArrow">
            <a:avLst>
              <a:gd name="adj1" fmla="val 50000"/>
              <a:gd name="adj2" fmla="val 46810"/>
            </a:avLst>
          </a:prstGeom>
          <a:solidFill>
            <a:srgbClr val="C9211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"/>
          <p:cNvSpPr/>
          <p:nvPr/>
        </p:nvSpPr>
        <p:spPr>
          <a:xfrm>
            <a:off x="3869280" y="3191760"/>
            <a:ext cx="726840" cy="1361880"/>
          </a:xfrm>
          <a:prstGeom prst="downArrow">
            <a:avLst>
              <a:gd name="adj1" fmla="val 50000"/>
              <a:gd name="adj2" fmla="val 46810"/>
            </a:avLst>
          </a:prstGeom>
          <a:solidFill>
            <a:srgbClr val="C9211E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"/>
          <p:cNvSpPr/>
          <p:nvPr/>
        </p:nvSpPr>
        <p:spPr>
          <a:xfrm flipV="1">
            <a:off x="5774040" y="5021280"/>
            <a:ext cx="1981440" cy="982080"/>
          </a:xfrm>
          <a:prstGeom prst="line">
            <a:avLst/>
          </a:prstGeom>
          <a:ln w="180000">
            <a:solidFill>
              <a:srgbClr val="C9211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35000" rIns="180000" bIns="135000" anchor="ctr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"/>
          <p:cNvSpPr/>
          <p:nvPr/>
        </p:nvSpPr>
        <p:spPr>
          <a:xfrm>
            <a:off x="5824800" y="5021280"/>
            <a:ext cx="1981440" cy="982080"/>
          </a:xfrm>
          <a:prstGeom prst="line">
            <a:avLst/>
          </a:prstGeom>
          <a:ln w="180000">
            <a:solidFill>
              <a:srgbClr val="C9211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80000" tIns="135000" rIns="180000" bIns="135000" anchor="ctr">
            <a:noAutofit/>
          </a:bodyPr>
          <a:p>
            <a:pPr>
              <a:lnSpc>
                <a:spcPct val="100000"/>
              </a:lnSpc>
            </a:pPr>
            <a:endParaRPr lang="es-E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  <p:timing>
    <p:tnLst>
      <p:par>
        <p:cTn id="241" dur="indefinite" restart="never" nodeType="tmRoot">
          <p:childTnLst>
            <p:seq>
              <p:cTn id="242" dur="indefinite" nodeType="mainSeq">
                <p:childTnLst>
                  <p:par>
                    <p:cTn id="243" fill="hold">
                      <p:stCondLst>
                        <p:cond delay="indefinite"/>
                      </p:stCondLst>
                      <p:childTnLst>
                        <p:par>
                          <p:cTn id="244" fill="hold">
                            <p:stCondLst>
                              <p:cond delay="0"/>
                            </p:stCondLst>
                            <p:childTnLst>
                              <p:par>
                                <p:cTn id="245" presetID="8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amond(in)">
                                      <p:cBhvr additive="repl">
                                        <p:cTn id="247" dur="2000"/>
                                        <p:tgtEl>
                                          <p:spTgt spid="6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8" fill="hold">
                      <p:stCondLst>
                        <p:cond delay="indefinite"/>
                      </p:stCondLst>
                      <p:childTnLst>
                        <p:par>
                          <p:cTn id="249" fill="hold">
                            <p:stCondLst>
                              <p:cond delay="0"/>
                            </p:stCondLst>
                            <p:childTnLst>
                              <p:par>
                                <p:cTn id="250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2" fill="hold">
                            <p:stCondLst>
                              <p:cond delay="1"/>
                            </p:stCondLst>
                            <p:childTnLst>
                              <p:par>
                                <p:cTn id="253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5" fill="hold">
                            <p:stCondLst>
                              <p:cond delay="202"/>
                            </p:stCondLst>
                            <p:childTnLst>
                              <p:par>
                                <p:cTn id="256" presetID="1" presetClass="entr" fill="hold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8" fill="hold">
                      <p:stCondLst>
                        <p:cond delay="indefinite"/>
                      </p:stCondLst>
                      <p:childTnLst>
                        <p:par>
                          <p:cTn id="259" fill="hold">
                            <p:stCondLst>
                              <p:cond delay="0"/>
                            </p:stCondLst>
                            <p:childTnLst>
                              <p:par>
                                <p:cTn id="260" presetID="4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 additive="repl">
                                        <p:cTn id="262" dur="500"/>
                                        <p:tgtEl>
                                          <p:spTgt spid="6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3" fill="hold">
                            <p:stCondLst>
                              <p:cond delay="500"/>
                            </p:stCondLst>
                            <p:childTnLst>
                              <p:par>
                                <p:cTn id="264" presetID="4" presetClass="entr" fill="hold" nodeType="afterEffect" presetSubtype="16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 additive="repl">
                                        <p:cTn id="266" dur="500"/>
                                        <p:tgtEl>
                                          <p:spTgt spid="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7" fill="hold">
                            <p:stCondLst>
                              <p:cond delay="1500"/>
                            </p:stCondLst>
                            <p:childTnLst>
                              <p:par>
                                <p:cTn id="268" presetID="4" presetClass="entr" fill="hold" nodeType="afterEffect" presetSubtype="16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 additive="repl">
                                        <p:cTn id="270" dur="500"/>
                                        <p:tgtEl>
                                          <p:spTgt spid="6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1" fill="hold">
                            <p:stCondLst>
                              <p:cond delay="2500"/>
                            </p:stCondLst>
                            <p:childTnLst>
                              <p:par>
                                <p:cTn id="272" presetID="4" presetClass="entr" fill="hold" nodeType="afterEffect" presetSubtype="16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 additive="repl">
                                        <p:cTn id="274" dur="500"/>
                                        <p:tgtEl>
                                          <p:spTgt spid="6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2589120" y="946800"/>
            <a:ext cx="8913600" cy="272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7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ESKERRIK ASKO</a:t>
            </a:r>
            <a:endParaRPr lang="es-ES" sz="7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/>
          </p:nvPr>
        </p:nvSpPr>
        <p:spPr>
          <a:xfrm>
            <a:off x="2589120" y="5181480"/>
            <a:ext cx="8913600" cy="72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r" defTabSz="4572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Century Gothic"/>
              </a:rPr>
              <a:t>Proyecto EDA – Notas de exámenes</a:t>
            </a:r>
            <a:endParaRPr lang="es-ES" sz="1800" b="0" u="none" strike="noStrike">
              <a:solidFill>
                <a:schemeClr val="dk1">
                  <a:lumMod val="65000"/>
                  <a:lumOff val="3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>
        <p14:rippl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Espiral">
  <a:themeElements>
    <a:clrScheme name="Espiral">
      <a:dk1>
        <a:srgbClr val="000000"/>
      </a:dk1>
      <a:lt1>
        <a:srgbClr val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Espiral">
      <a:majorFont>
        <a:latin typeface="Century Gothic" panose="020B0502020202020204" pitchFamily="0" charset="1"/>
        <a:ea typeface=""/>
        <a:cs typeface=""/>
      </a:majorFont>
      <a:minorFont>
        <a:latin typeface="Century Gothic" panose="020B0502020202020204" pitchFamily="0" charset="1"/>
        <a:ea typeface=""/>
        <a:cs typeface=""/>
      </a:minorFont>
    </a:fontScheme>
    <a:fmtScheme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  <a:tileRect l="0" t="0" r="0" b="0"/>
        </a:gradFill>
      </a:fillStyleLst>
      <a:lnStyleLst>
        <a:ln w="9525" cap="rnd" cmpd="sng" algn="ctr">
          <a:prstDash val="solid"/>
        </a:ln>
        <a:ln w="15875" cap="rnd" cmpd="sng" algn="ctr">
          <a:prstDash val="solid"/>
        </a:ln>
        <a:ln w="22225" cap="rnd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lumMod val="98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lumMod val="98000"/>
              </a:schemeClr>
            </a:gs>
          </a:gsLst>
          <a:path path="circle">
            <a:fillToRect l="50000" t="50000" r="100000" b="10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758</TotalTime>
  <Application>LibreOffice/26.2.2.2$Windows_X86_64 LibreOffice_project/1f77d10d6938fd34972958f64b2bcfa54f8b1ba5</Application>
  <AppVersion>15.0000</AppVersion>
  <Words>322</Words>
  <Paragraphs>53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2026-04-07T15:41:30Z</dcterms:created>
  <dc:creator>Héctor</dc:creator>
  <dc:description/>
  <dc:language>es-ES</dc:language>
  <cp:lastModifiedBy/>
  <dcterms:modified xsi:type="dcterms:W3CDTF">2026-04-15T09:39:00Z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Panorámica</vt:lpwstr>
  </property>
  <property fmtid="{D5CDD505-2E9C-101B-9397-08002B2CF9AE}" pid="4" name="Slides">
    <vt:i4>15</vt:i4>
  </property>
</Properties>
</file>